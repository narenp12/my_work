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Maven Pro"/>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22" Type="http://schemas.openxmlformats.org/officeDocument/2006/relationships/font" Target="fonts/MavenPro-regular.fntdata"/><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182a36c627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182a36c627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18b5e7adf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18b5e7adf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18b5e7adf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18b5e7adf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8b5e7adf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8b5e7adf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18b5e7adf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18b5e7adf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made a list of assumptions and their </a:t>
            </a:r>
            <a:r>
              <a:rPr lang="en"/>
              <a:t>corresponding</a:t>
            </a:r>
            <a:r>
              <a:rPr lang="en"/>
              <a:t> parameters for our model of Puffer’s disease, and the flow diagram illustrating them can be seen on the following slide. The sum of the terms g*SN and h*SI (on the top left) represent the total number of </a:t>
            </a:r>
            <a:r>
              <a:rPr lang="en"/>
              <a:t>susceptible</a:t>
            </a:r>
            <a:r>
              <a:rPr lang="en"/>
              <a:t> individuals that become infected. </a:t>
            </a:r>
            <a:r>
              <a:rPr lang="en">
                <a:solidFill>
                  <a:schemeClr val="dk1"/>
                </a:solidFill>
              </a:rPr>
              <a:t>Because all newly infected people take time to develop symptoms, all of these individuals leave popn S and join population N. </a:t>
            </a:r>
            <a:r>
              <a:rPr lang="en"/>
              <a:t>Parameter g is the rate at which susceptible individuals become infected but not yet symptomatic, which occurs when an S individual encounters an infected but not yet symptomatic person (from population N), an </a:t>
            </a:r>
            <a:r>
              <a:rPr lang="en"/>
              <a:t>occurrence</a:t>
            </a:r>
            <a:r>
              <a:rPr lang="en"/>
              <a:t> described by the term S*N.</a:t>
            </a:r>
            <a:r>
              <a:rPr lang="en"/>
              <a:t> Parameter h is that rate at which any given susceptible individual will join population N when they encounter a symptomatic and infected individual (from population I).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parameter p represents the per capita rate at which infected (but not yet symptomatic) individuals become symptomatic. For instance, if it takes four days for individuals who have become infected to begin showing symptoms, p will be .25, as about a quarter of the not yet symptomatic population will have been infected for four days at that 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 represents the population that is immune, and so the term </a:t>
            </a:r>
            <a:r>
              <a:rPr lang="en">
                <a:solidFill>
                  <a:schemeClr val="dk1"/>
                </a:solidFill>
              </a:rPr>
              <a:t>tM describes the rate at which immune become susceptible again as immunity from the vaccine and recovery from the disease wears off. </a:t>
            </a:r>
            <a:r>
              <a:rPr lang="en"/>
              <a:t>Additionally, r describes the rate at which susceptible individuals get vaccinated, and k is the rate at which individuals recover from the infection after they have begun showing symptoms, become immune.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 and q both represent death rates; j is the death rate of infectious, symptomatic individuals (from popn I), and q is the death rate of not yet symptomatic individuals. In our model, j is slightly higher than q, and so the death rate is higher among those exhibiting symptoms.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on the right represents the same series of interactions, but with possible values as the set parameters. The corresponding differential equations for the four populations can be seen above; for instance, S’ is [read].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8b5e7adf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8b5e7adf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8b5e7adf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8b5e7adf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8b5e7adf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8b5e7adf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8b5e7adf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18b5e7adf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18b5e7adf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18b5e7adf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18b5e7adf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18b5e7adf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SIR Model: Puffer’s Disease</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Kay, Sam, Naren, Sophie</a:t>
            </a:r>
            <a:endParaRPr/>
          </a:p>
        </p:txBody>
      </p:sp>
      <p:pic>
        <p:nvPicPr>
          <p:cNvPr id="279" name="Google Shape;279;p13"/>
          <p:cNvPicPr preferRelativeResize="0"/>
          <p:nvPr/>
        </p:nvPicPr>
        <p:blipFill>
          <a:blip r:embed="rId3">
            <a:alphaModFix/>
          </a:blip>
          <a:stretch>
            <a:fillRect/>
          </a:stretch>
        </p:blipFill>
        <p:spPr>
          <a:xfrm>
            <a:off x="4978325" y="488300"/>
            <a:ext cx="3252000" cy="2587800"/>
          </a:xfrm>
          <a:prstGeom prst="hear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Why’d we choose the SIR Model </a:t>
            </a:r>
            <a:endParaRPr/>
          </a:p>
          <a:p>
            <a:pPr indent="0" lvl="0" marL="0" rtl="0" algn="l">
              <a:spcBef>
                <a:spcPts val="0"/>
              </a:spcBef>
              <a:spcAft>
                <a:spcPts val="0"/>
              </a:spcAft>
              <a:buNone/>
            </a:pPr>
            <a:r>
              <a:rPr lang="en"/>
              <a:t>(ODE Edition)</a:t>
            </a:r>
            <a:endParaRPr/>
          </a:p>
        </p:txBody>
      </p:sp>
      <p:sp>
        <p:nvSpPr>
          <p:cNvPr id="285" name="Google Shape;285;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Keep it simple stupid!</a:t>
            </a:r>
            <a:endParaRPr/>
          </a:p>
          <a:p>
            <a:pPr indent="-298450" lvl="1" marL="914400" rtl="0" algn="l">
              <a:spcBef>
                <a:spcPts val="0"/>
              </a:spcBef>
              <a:spcAft>
                <a:spcPts val="0"/>
              </a:spcAft>
              <a:buSzPts val="1100"/>
              <a:buChar char="○"/>
            </a:pPr>
            <a:r>
              <a:rPr lang="en"/>
              <a:t>Leaves room for creativity </a:t>
            </a:r>
            <a:endParaRPr/>
          </a:p>
          <a:p>
            <a:pPr indent="-298450" lvl="1" marL="914400" rtl="0" algn="l">
              <a:spcBef>
                <a:spcPts val="0"/>
              </a:spcBef>
              <a:spcAft>
                <a:spcPts val="0"/>
              </a:spcAft>
              <a:buSzPts val="1100"/>
              <a:buChar char="○"/>
            </a:pPr>
            <a:r>
              <a:rPr lang="en"/>
              <a:t>Plenty of background knowledge on SIR model </a:t>
            </a:r>
            <a:endParaRPr/>
          </a:p>
          <a:p>
            <a:pPr indent="-298450" lvl="1" marL="914400" rtl="0" algn="l">
              <a:spcBef>
                <a:spcPts val="0"/>
              </a:spcBef>
              <a:spcAft>
                <a:spcPts val="0"/>
              </a:spcAft>
              <a:buSzPts val="1100"/>
              <a:buChar char="○"/>
            </a:pPr>
            <a:r>
              <a:rPr lang="en"/>
              <a:t>Allows us to change more parameters and experiment more</a:t>
            </a:r>
            <a:endParaRPr/>
          </a:p>
          <a:p>
            <a:pPr indent="-298450" lvl="1" marL="914400" rtl="0" algn="l">
              <a:spcBef>
                <a:spcPts val="0"/>
              </a:spcBef>
              <a:spcAft>
                <a:spcPts val="0"/>
              </a:spcAft>
              <a:buSzPts val="1100"/>
              <a:buChar char="○"/>
            </a:pPr>
            <a:r>
              <a:rPr lang="en"/>
              <a:t>Make a simple model more complicated (not fun, but cool to mess around with) </a:t>
            </a:r>
            <a:endParaRPr/>
          </a:p>
          <a:p>
            <a:pPr indent="-298450" lvl="1" marL="914400" rtl="0" algn="l">
              <a:spcBef>
                <a:spcPts val="0"/>
              </a:spcBef>
              <a:spcAft>
                <a:spcPts val="0"/>
              </a:spcAft>
              <a:buSzPts val="1100"/>
              <a:buChar char="○"/>
            </a:pPr>
            <a:r>
              <a:rPr lang="en"/>
              <a:t>Can work the hardest on a topic well known </a:t>
            </a:r>
            <a:endParaRPr/>
          </a:p>
          <a:p>
            <a:pPr indent="-311150" lvl="0" marL="457200" rtl="0" algn="l">
              <a:spcBef>
                <a:spcPts val="0"/>
              </a:spcBef>
              <a:spcAft>
                <a:spcPts val="0"/>
              </a:spcAft>
              <a:buSzPts val="1300"/>
              <a:buChar char="●"/>
            </a:pPr>
            <a:r>
              <a:rPr lang="en"/>
              <a:t>Interesting topic</a:t>
            </a:r>
            <a:endParaRPr/>
          </a:p>
          <a:p>
            <a:pPr indent="-298450" lvl="1" marL="914400" rtl="0" algn="l">
              <a:spcBef>
                <a:spcPts val="0"/>
              </a:spcBef>
              <a:spcAft>
                <a:spcPts val="0"/>
              </a:spcAft>
              <a:buSzPts val="1100"/>
              <a:buChar char="○"/>
            </a:pPr>
            <a:r>
              <a:rPr lang="en"/>
              <a:t>Studying effects of steepness of negative feedback loops </a:t>
            </a:r>
            <a:endParaRPr/>
          </a:p>
          <a:p>
            <a:pPr indent="-298450" lvl="1" marL="914400" rtl="0" algn="l">
              <a:spcBef>
                <a:spcPts val="0"/>
              </a:spcBef>
              <a:spcAft>
                <a:spcPts val="0"/>
              </a:spcAft>
              <a:buSzPts val="1100"/>
              <a:buChar char="○"/>
            </a:pPr>
            <a:r>
              <a:rPr lang="en"/>
              <a:t>Too much ecology in LS 7B, gotta switch things up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How’d we come up with Puffer’s Disease?</a:t>
            </a:r>
            <a:endParaRPr/>
          </a:p>
        </p:txBody>
      </p:sp>
      <p:sp>
        <p:nvSpPr>
          <p:cNvPr id="291" name="Google Shape;291;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arenR"/>
            </a:pPr>
            <a:r>
              <a:rPr lang="en"/>
              <a:t>Met up together and chose the SIR model (reasons discussed </a:t>
            </a:r>
            <a:r>
              <a:rPr lang="en"/>
              <a:t>previously) </a:t>
            </a:r>
            <a:endParaRPr/>
          </a:p>
          <a:p>
            <a:pPr indent="-311150" lvl="0" marL="457200" rtl="0" algn="l">
              <a:spcBef>
                <a:spcPts val="0"/>
              </a:spcBef>
              <a:spcAft>
                <a:spcPts val="0"/>
              </a:spcAft>
              <a:buSzPts val="1300"/>
              <a:buAutoNum type="arabicParenR"/>
            </a:pPr>
            <a:r>
              <a:rPr lang="en"/>
              <a:t>Added a new state variable (infectious but not symptomatic) </a:t>
            </a:r>
            <a:endParaRPr/>
          </a:p>
          <a:p>
            <a:pPr indent="-311150" lvl="0" marL="457200" rtl="0" algn="l">
              <a:spcBef>
                <a:spcPts val="0"/>
              </a:spcBef>
              <a:spcAft>
                <a:spcPts val="0"/>
              </a:spcAft>
              <a:buSzPts val="1300"/>
              <a:buAutoNum type="arabicParenR"/>
            </a:pPr>
            <a:r>
              <a:rPr lang="en"/>
              <a:t>Came up with a cool name for the disease </a:t>
            </a:r>
            <a:endParaRPr/>
          </a:p>
          <a:p>
            <a:pPr indent="-311150" lvl="0" marL="457200" rtl="0" algn="l">
              <a:spcBef>
                <a:spcPts val="0"/>
              </a:spcBef>
              <a:spcAft>
                <a:spcPts val="0"/>
              </a:spcAft>
              <a:buSzPts val="1300"/>
              <a:buAutoNum type="arabicParenR"/>
            </a:pPr>
            <a:r>
              <a:rPr lang="en"/>
              <a:t>Wanted to incorporate other aspects real life diseases into our model </a:t>
            </a:r>
            <a:endParaRPr/>
          </a:p>
          <a:p>
            <a:pPr indent="-298450" lvl="1" marL="914400" rtl="0" algn="l">
              <a:spcBef>
                <a:spcPts val="0"/>
              </a:spcBef>
              <a:spcAft>
                <a:spcPts val="0"/>
              </a:spcAft>
              <a:buSzPts val="1100"/>
              <a:buAutoNum type="alphaLcParenR"/>
            </a:pPr>
            <a:r>
              <a:rPr lang="en"/>
              <a:t>Incorporated a vaccine </a:t>
            </a:r>
            <a:endParaRPr/>
          </a:p>
          <a:p>
            <a:pPr indent="-298450" lvl="1" marL="914400" rtl="0" algn="l">
              <a:spcBef>
                <a:spcPts val="0"/>
              </a:spcBef>
              <a:spcAft>
                <a:spcPts val="0"/>
              </a:spcAft>
              <a:buSzPts val="1100"/>
              <a:buAutoNum type="alphaLcParenR"/>
            </a:pPr>
            <a:r>
              <a:rPr lang="en"/>
              <a:t>Used parameters that have values according to real life</a:t>
            </a:r>
            <a:endParaRPr/>
          </a:p>
          <a:p>
            <a:pPr indent="-298450" lvl="2" marL="1371600" rtl="0" algn="l">
              <a:spcBef>
                <a:spcPts val="0"/>
              </a:spcBef>
              <a:spcAft>
                <a:spcPts val="0"/>
              </a:spcAft>
              <a:buSzPts val="1100"/>
              <a:buAutoNum type="romanLcParenR"/>
            </a:pPr>
            <a:r>
              <a:rPr lang="en"/>
              <a:t>Susceptible people have a 2% chance more of becoming infected from symptomatic individuals than asymptomatic individuals </a:t>
            </a:r>
            <a:endParaRPr/>
          </a:p>
          <a:p>
            <a:pPr indent="-298450" lvl="2" marL="1371600" rtl="0" algn="l">
              <a:spcBef>
                <a:spcPts val="0"/>
              </a:spcBef>
              <a:spcAft>
                <a:spcPts val="0"/>
              </a:spcAft>
              <a:buSzPts val="1100"/>
              <a:buAutoNum type="romanLcParenR"/>
            </a:pPr>
            <a:r>
              <a:rPr lang="en"/>
              <a:t>Individuals will always be asymptomatic before they become symptomatic </a:t>
            </a:r>
            <a:endParaRPr/>
          </a:p>
          <a:p>
            <a:pPr indent="-311150" lvl="0" marL="457200" rtl="0" algn="l">
              <a:spcBef>
                <a:spcPts val="0"/>
              </a:spcBef>
              <a:spcAft>
                <a:spcPts val="0"/>
              </a:spcAft>
              <a:buSzPts val="1300"/>
              <a:buAutoNum type="arabicParenR"/>
            </a:pPr>
            <a:r>
              <a:rPr lang="en"/>
              <a:t>Made the flow diagram, model assumptions, and parameters accordingly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Puffer’s Disease Model </a:t>
            </a:r>
            <a:endParaRPr/>
          </a:p>
        </p:txBody>
      </p:sp>
      <p:sp>
        <p:nvSpPr>
          <p:cNvPr id="297" name="Google Shape;297;p16"/>
          <p:cNvSpPr txBox="1"/>
          <p:nvPr>
            <p:ph idx="1" type="body"/>
          </p:nvPr>
        </p:nvSpPr>
        <p:spPr>
          <a:xfrm>
            <a:off x="1303800" y="1597875"/>
            <a:ext cx="7030500" cy="1068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2300">
                <a:solidFill>
                  <a:srgbClr val="000000"/>
                </a:solidFill>
              </a:rPr>
              <a:t>In epidemiology, a common way to model the spread of an infectious disease called Puffers Disease is to track the number of susceptible individuals (S), the number of individuals of those who are infectious but not yet symptomatic (N), the number of currently infected and symptomatic individuals (I), and the number of individuals who have recovered from the disease with immunity (M). (All rates listed below are per day rates)</a:t>
            </a:r>
            <a:endParaRPr sz="2300">
              <a:solidFill>
                <a:srgbClr val="000000"/>
              </a:solidFill>
            </a:endParaRPr>
          </a:p>
          <a:p>
            <a:pPr indent="0" lvl="0" marL="0" rtl="0" algn="l">
              <a:lnSpc>
                <a:spcPct val="95000"/>
              </a:lnSpc>
              <a:spcBef>
                <a:spcPts val="0"/>
              </a:spcBef>
              <a:spcAft>
                <a:spcPts val="1200"/>
              </a:spcAft>
              <a:buNone/>
            </a:pPr>
            <a:r>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title"/>
          </p:nvPr>
        </p:nvSpPr>
        <p:spPr>
          <a:xfrm>
            <a:off x="1303800" y="31332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Puffer’s Disease Parameters and Assumptions</a:t>
            </a:r>
            <a:endParaRPr/>
          </a:p>
        </p:txBody>
      </p:sp>
      <p:sp>
        <p:nvSpPr>
          <p:cNvPr id="303" name="Google Shape;303;p17"/>
          <p:cNvSpPr txBox="1"/>
          <p:nvPr>
            <p:ph idx="1" type="body"/>
          </p:nvPr>
        </p:nvSpPr>
        <p:spPr>
          <a:xfrm>
            <a:off x="-95075" y="1217525"/>
            <a:ext cx="5198100" cy="2933700"/>
          </a:xfrm>
          <a:prstGeom prst="rect">
            <a:avLst/>
          </a:prstGeom>
        </p:spPr>
        <p:txBody>
          <a:bodyPr anchorCtr="0" anchor="t" bIns="91425" lIns="91425" spcFirstLastPara="1" rIns="91425" wrap="square" tIns="91425">
            <a:noAutofit/>
          </a:bodyPr>
          <a:lstStyle/>
          <a:p>
            <a:pPr indent="-300990" lvl="0" marL="457200" rtl="0" algn="l">
              <a:lnSpc>
                <a:spcPct val="95000"/>
              </a:lnSpc>
              <a:spcBef>
                <a:spcPts val="0"/>
              </a:spcBef>
              <a:spcAft>
                <a:spcPts val="0"/>
              </a:spcAft>
              <a:buClr>
                <a:srgbClr val="000000"/>
              </a:buClr>
              <a:buSzPts val="1140"/>
              <a:buChar char="●"/>
            </a:pPr>
            <a:r>
              <a:rPr lang="en" sz="1140">
                <a:solidFill>
                  <a:srgbClr val="000000"/>
                </a:solidFill>
              </a:rPr>
              <a:t>Susceptible people become infected in 3% of encounters with asymptomatic individuals.</a:t>
            </a:r>
            <a:endParaRPr sz="1140">
              <a:solidFill>
                <a:srgbClr val="000000"/>
              </a:solidFill>
            </a:endParaRPr>
          </a:p>
          <a:p>
            <a:pPr indent="-300990" lvl="1" marL="914400" rtl="0" algn="l">
              <a:lnSpc>
                <a:spcPct val="95000"/>
              </a:lnSpc>
              <a:spcBef>
                <a:spcPts val="0"/>
              </a:spcBef>
              <a:spcAft>
                <a:spcPts val="0"/>
              </a:spcAft>
              <a:buClr>
                <a:srgbClr val="E06666"/>
              </a:buClr>
              <a:buSzPts val="1140"/>
              <a:buChar char="○"/>
            </a:pPr>
            <a:r>
              <a:rPr lang="en" sz="1140">
                <a:solidFill>
                  <a:srgbClr val="E06666"/>
                </a:solidFill>
              </a:rPr>
              <a:t>Parameter g: Per capita rate at which susceptible people become infected with encounters with asymptomatic individuals </a:t>
            </a:r>
            <a:endParaRPr sz="1140">
              <a:solidFill>
                <a:srgbClr val="E06666"/>
              </a:solidFill>
            </a:endParaRPr>
          </a:p>
          <a:p>
            <a:pPr indent="-300990" lvl="0" marL="457200" rtl="0" algn="l">
              <a:lnSpc>
                <a:spcPct val="95000"/>
              </a:lnSpc>
              <a:spcBef>
                <a:spcPts val="0"/>
              </a:spcBef>
              <a:spcAft>
                <a:spcPts val="0"/>
              </a:spcAft>
              <a:buClr>
                <a:srgbClr val="000000"/>
              </a:buClr>
              <a:buSzPts val="1140"/>
              <a:buChar char="●"/>
            </a:pPr>
            <a:r>
              <a:rPr lang="en" sz="1140">
                <a:solidFill>
                  <a:srgbClr val="000000"/>
                </a:solidFill>
              </a:rPr>
              <a:t>7% of encounters between susceptible and infected and symptomatic individuals result in new infections.</a:t>
            </a:r>
            <a:endParaRPr sz="1140">
              <a:solidFill>
                <a:srgbClr val="000000"/>
              </a:solidFill>
            </a:endParaRPr>
          </a:p>
          <a:p>
            <a:pPr indent="-300990" lvl="1" marL="914400" rtl="0" algn="l">
              <a:lnSpc>
                <a:spcPct val="95000"/>
              </a:lnSpc>
              <a:spcBef>
                <a:spcPts val="0"/>
              </a:spcBef>
              <a:spcAft>
                <a:spcPts val="0"/>
              </a:spcAft>
              <a:buClr>
                <a:srgbClr val="E06666"/>
              </a:buClr>
              <a:buSzPts val="1140"/>
              <a:buChar char="○"/>
            </a:pPr>
            <a:r>
              <a:rPr lang="en" sz="1140">
                <a:solidFill>
                  <a:srgbClr val="E06666"/>
                </a:solidFill>
              </a:rPr>
              <a:t>Parameter h: per capita rate at which susceptible and infected+symptomatic individuals result in people becoming infected </a:t>
            </a:r>
            <a:endParaRPr sz="1140">
              <a:solidFill>
                <a:srgbClr val="E06666"/>
              </a:solidFill>
            </a:endParaRPr>
          </a:p>
          <a:p>
            <a:pPr indent="-300990" lvl="0" marL="457200" rtl="0" algn="l">
              <a:lnSpc>
                <a:spcPct val="95000"/>
              </a:lnSpc>
              <a:spcBef>
                <a:spcPts val="0"/>
              </a:spcBef>
              <a:spcAft>
                <a:spcPts val="0"/>
              </a:spcAft>
              <a:buClr>
                <a:srgbClr val="000000"/>
              </a:buClr>
              <a:buSzPts val="1140"/>
              <a:buChar char="●"/>
            </a:pPr>
            <a:r>
              <a:rPr lang="en" sz="1140">
                <a:solidFill>
                  <a:srgbClr val="000000"/>
                </a:solidFill>
              </a:rPr>
              <a:t>Infected and symptomatic people die at a per capita rate of 0.0005.</a:t>
            </a:r>
            <a:endParaRPr sz="1140">
              <a:solidFill>
                <a:srgbClr val="000000"/>
              </a:solidFill>
            </a:endParaRPr>
          </a:p>
          <a:p>
            <a:pPr indent="-300990" lvl="1" marL="914400" rtl="0" algn="l">
              <a:lnSpc>
                <a:spcPct val="95000"/>
              </a:lnSpc>
              <a:spcBef>
                <a:spcPts val="0"/>
              </a:spcBef>
              <a:spcAft>
                <a:spcPts val="0"/>
              </a:spcAft>
              <a:buClr>
                <a:srgbClr val="E06666"/>
              </a:buClr>
              <a:buSzPts val="1140"/>
              <a:buChar char="○"/>
            </a:pPr>
            <a:r>
              <a:rPr lang="en" sz="1140">
                <a:solidFill>
                  <a:srgbClr val="E06666"/>
                </a:solidFill>
              </a:rPr>
              <a:t>Parameter j: per capita death rate of infected and symptomatic individuals </a:t>
            </a:r>
            <a:endParaRPr sz="1140">
              <a:solidFill>
                <a:srgbClr val="E06666"/>
              </a:solidFill>
            </a:endParaRPr>
          </a:p>
          <a:p>
            <a:pPr indent="-300990" lvl="0" marL="457200" rtl="0" algn="l">
              <a:lnSpc>
                <a:spcPct val="95000"/>
              </a:lnSpc>
              <a:spcBef>
                <a:spcPts val="0"/>
              </a:spcBef>
              <a:spcAft>
                <a:spcPts val="0"/>
              </a:spcAft>
              <a:buClr>
                <a:srgbClr val="000000"/>
              </a:buClr>
              <a:buSzPts val="1140"/>
              <a:buChar char="●"/>
            </a:pPr>
            <a:r>
              <a:rPr lang="en" sz="1140">
                <a:solidFill>
                  <a:srgbClr val="000000"/>
                </a:solidFill>
              </a:rPr>
              <a:t>Infected and symptomatic people recover at a per capita rate of 0.5</a:t>
            </a:r>
            <a:endParaRPr sz="1140">
              <a:solidFill>
                <a:srgbClr val="000000"/>
              </a:solidFill>
            </a:endParaRPr>
          </a:p>
          <a:p>
            <a:pPr indent="-300990" lvl="1" marL="914400" rtl="0" algn="l">
              <a:lnSpc>
                <a:spcPct val="95000"/>
              </a:lnSpc>
              <a:spcBef>
                <a:spcPts val="0"/>
              </a:spcBef>
              <a:spcAft>
                <a:spcPts val="0"/>
              </a:spcAft>
              <a:buClr>
                <a:srgbClr val="E06666"/>
              </a:buClr>
              <a:buSzPts val="1140"/>
              <a:buChar char="○"/>
            </a:pPr>
            <a:r>
              <a:rPr lang="en" sz="1140">
                <a:solidFill>
                  <a:srgbClr val="E06666"/>
                </a:solidFill>
              </a:rPr>
              <a:t>Parameter k: per capita recovery rate of infected and symptomatic people </a:t>
            </a:r>
            <a:endParaRPr sz="1140">
              <a:solidFill>
                <a:srgbClr val="E06666"/>
              </a:solidFill>
            </a:endParaRPr>
          </a:p>
          <a:p>
            <a:pPr indent="-300990" lvl="0" marL="457200" rtl="0" algn="l">
              <a:lnSpc>
                <a:spcPct val="95000"/>
              </a:lnSpc>
              <a:spcBef>
                <a:spcPts val="0"/>
              </a:spcBef>
              <a:spcAft>
                <a:spcPts val="0"/>
              </a:spcAft>
              <a:buClr>
                <a:srgbClr val="000000"/>
              </a:buClr>
              <a:buSzPts val="1140"/>
              <a:buChar char="●"/>
            </a:pPr>
            <a:r>
              <a:rPr lang="en" sz="1140">
                <a:solidFill>
                  <a:srgbClr val="000000"/>
                </a:solidFill>
              </a:rPr>
              <a:t>When people recover they become immune to the disease</a:t>
            </a:r>
            <a:endParaRPr sz="1140">
              <a:solidFill>
                <a:srgbClr val="000000"/>
              </a:solidFill>
            </a:endParaRPr>
          </a:p>
          <a:p>
            <a:pPr indent="-300990" lvl="0" marL="457200" rtl="0" algn="l">
              <a:lnSpc>
                <a:spcPct val="95000"/>
              </a:lnSpc>
              <a:spcBef>
                <a:spcPts val="0"/>
              </a:spcBef>
              <a:spcAft>
                <a:spcPts val="0"/>
              </a:spcAft>
              <a:buClr>
                <a:srgbClr val="000000"/>
              </a:buClr>
              <a:buSzPts val="1140"/>
              <a:buChar char="●"/>
            </a:pPr>
            <a:r>
              <a:rPr lang="en" sz="1140">
                <a:solidFill>
                  <a:srgbClr val="000000"/>
                </a:solidFill>
              </a:rPr>
              <a:t>Newly infected individuals do not immediately exhibit symptoms and are initially asymptomatic. (meaning: All susceptible individuals that become infected will become infectious but not symptomatic before passing away or becoming infectious and symptomatic)</a:t>
            </a:r>
            <a:r>
              <a:rPr lang="en" sz="1140" u="sng">
                <a:solidFill>
                  <a:srgbClr val="000000"/>
                </a:solidFill>
              </a:rPr>
              <a:t> </a:t>
            </a:r>
            <a:endParaRPr sz="1140">
              <a:solidFill>
                <a:srgbClr val="000000"/>
              </a:solidFill>
            </a:endParaRPr>
          </a:p>
          <a:p>
            <a:pPr indent="0" lvl="0" marL="0" rtl="0" algn="l">
              <a:lnSpc>
                <a:spcPct val="95000"/>
              </a:lnSpc>
              <a:spcBef>
                <a:spcPts val="0"/>
              </a:spcBef>
              <a:spcAft>
                <a:spcPts val="1200"/>
              </a:spcAft>
              <a:buSzPts val="770"/>
              <a:buNone/>
            </a:pPr>
            <a:r>
              <a:t/>
            </a:r>
            <a:endParaRPr sz="1210"/>
          </a:p>
        </p:txBody>
      </p:sp>
      <p:sp>
        <p:nvSpPr>
          <p:cNvPr id="304" name="Google Shape;304;p17"/>
          <p:cNvSpPr txBox="1"/>
          <p:nvPr/>
        </p:nvSpPr>
        <p:spPr>
          <a:xfrm>
            <a:off x="4817700" y="1045925"/>
            <a:ext cx="4326300" cy="4083000"/>
          </a:xfrm>
          <a:prstGeom prst="rect">
            <a:avLst/>
          </a:prstGeom>
          <a:noFill/>
          <a:ln>
            <a:noFill/>
          </a:ln>
        </p:spPr>
        <p:txBody>
          <a:bodyPr anchorCtr="0" anchor="t" bIns="91425" lIns="91425" spcFirstLastPara="1" rIns="91425" wrap="square" tIns="91425">
            <a:spAutoFit/>
          </a:bodyPr>
          <a:lstStyle/>
          <a:p>
            <a:pPr indent="-300990" lvl="0" marL="457200" rtl="0" algn="l">
              <a:lnSpc>
                <a:spcPct val="95000"/>
              </a:lnSpc>
              <a:spcBef>
                <a:spcPts val="0"/>
              </a:spcBef>
              <a:spcAft>
                <a:spcPts val="0"/>
              </a:spcAft>
              <a:buClr>
                <a:srgbClr val="000000"/>
              </a:buClr>
              <a:buSzPts val="1140"/>
              <a:buFont typeface="Nunito"/>
              <a:buChar char="●"/>
            </a:pPr>
            <a:r>
              <a:rPr lang="en" sz="1140">
                <a:latin typeface="Nunito"/>
                <a:ea typeface="Nunito"/>
                <a:cs typeface="Nunito"/>
                <a:sym typeface="Nunito"/>
              </a:rPr>
              <a:t>Asymptomatic infected individuals begin to exhibit symptoms after a 4 day period. In other words, 25% of the asymptomatic individuals become symptomatic each day.  </a:t>
            </a:r>
            <a:endParaRPr sz="1140">
              <a:latin typeface="Nunito"/>
              <a:ea typeface="Nunito"/>
              <a:cs typeface="Nunito"/>
              <a:sym typeface="Nunito"/>
            </a:endParaRPr>
          </a:p>
          <a:p>
            <a:pPr indent="-300990" lvl="1" marL="914400" rtl="0" algn="l">
              <a:lnSpc>
                <a:spcPct val="95000"/>
              </a:lnSpc>
              <a:spcBef>
                <a:spcPts val="0"/>
              </a:spcBef>
              <a:spcAft>
                <a:spcPts val="0"/>
              </a:spcAft>
              <a:buClr>
                <a:srgbClr val="E06666"/>
              </a:buClr>
              <a:buSzPts val="1140"/>
              <a:buFont typeface="Nunito"/>
              <a:buChar char="○"/>
            </a:pPr>
            <a:r>
              <a:rPr lang="en" sz="1140">
                <a:solidFill>
                  <a:srgbClr val="E06666"/>
                </a:solidFill>
                <a:latin typeface="Nunito"/>
                <a:ea typeface="Nunito"/>
                <a:cs typeface="Nunito"/>
                <a:sym typeface="Nunito"/>
              </a:rPr>
              <a:t>Parameter p: rate at which asymptomatic individuals become symptomatic </a:t>
            </a:r>
            <a:endParaRPr sz="1140">
              <a:solidFill>
                <a:srgbClr val="E06666"/>
              </a:solidFill>
              <a:latin typeface="Nunito"/>
              <a:ea typeface="Nunito"/>
              <a:cs typeface="Nunito"/>
              <a:sym typeface="Nunito"/>
            </a:endParaRPr>
          </a:p>
          <a:p>
            <a:pPr indent="-300990" lvl="0" marL="457200" rtl="0" algn="l">
              <a:lnSpc>
                <a:spcPct val="95000"/>
              </a:lnSpc>
              <a:spcBef>
                <a:spcPts val="0"/>
              </a:spcBef>
              <a:spcAft>
                <a:spcPts val="0"/>
              </a:spcAft>
              <a:buClr>
                <a:srgbClr val="000000"/>
              </a:buClr>
              <a:buSzPts val="1140"/>
              <a:buFont typeface="Nunito"/>
              <a:buChar char="●"/>
            </a:pPr>
            <a:r>
              <a:rPr lang="en" sz="1140">
                <a:latin typeface="Nunito"/>
                <a:ea typeface="Nunito"/>
                <a:cs typeface="Nunito"/>
                <a:sym typeface="Nunito"/>
              </a:rPr>
              <a:t>Newly infected asymptomatic individuals die at a per capita rate of .0001</a:t>
            </a:r>
            <a:endParaRPr sz="1140">
              <a:latin typeface="Nunito"/>
              <a:ea typeface="Nunito"/>
              <a:cs typeface="Nunito"/>
              <a:sym typeface="Nunito"/>
            </a:endParaRPr>
          </a:p>
          <a:p>
            <a:pPr indent="-300990" lvl="1" marL="914400" rtl="0" algn="l">
              <a:lnSpc>
                <a:spcPct val="95000"/>
              </a:lnSpc>
              <a:spcBef>
                <a:spcPts val="0"/>
              </a:spcBef>
              <a:spcAft>
                <a:spcPts val="0"/>
              </a:spcAft>
              <a:buClr>
                <a:srgbClr val="E06666"/>
              </a:buClr>
              <a:buSzPts val="1140"/>
              <a:buFont typeface="Nunito"/>
              <a:buChar char="○"/>
            </a:pPr>
            <a:r>
              <a:rPr lang="en" sz="1140">
                <a:solidFill>
                  <a:srgbClr val="E06666"/>
                </a:solidFill>
                <a:latin typeface="Nunito"/>
                <a:ea typeface="Nunito"/>
                <a:cs typeface="Nunito"/>
                <a:sym typeface="Nunito"/>
              </a:rPr>
              <a:t>Parameter q: per capita death rate of newly infected asymptomatic individuals </a:t>
            </a:r>
            <a:endParaRPr sz="1140">
              <a:solidFill>
                <a:srgbClr val="E06666"/>
              </a:solidFill>
              <a:latin typeface="Nunito"/>
              <a:ea typeface="Nunito"/>
              <a:cs typeface="Nunito"/>
              <a:sym typeface="Nunito"/>
            </a:endParaRPr>
          </a:p>
          <a:p>
            <a:pPr indent="-300990" lvl="0" marL="457200" rtl="0" algn="l">
              <a:lnSpc>
                <a:spcPct val="95000"/>
              </a:lnSpc>
              <a:spcBef>
                <a:spcPts val="0"/>
              </a:spcBef>
              <a:spcAft>
                <a:spcPts val="0"/>
              </a:spcAft>
              <a:buClr>
                <a:srgbClr val="000000"/>
              </a:buClr>
              <a:buSzPts val="1140"/>
              <a:buFont typeface="Nunito"/>
              <a:buChar char="●"/>
            </a:pPr>
            <a:r>
              <a:rPr lang="en" sz="1140">
                <a:latin typeface="Nunito"/>
                <a:ea typeface="Nunito"/>
                <a:cs typeface="Nunito"/>
                <a:sym typeface="Nunito"/>
              </a:rPr>
              <a:t>Susceptible people can gain immunity by getting vaccinated. The per capita rate at which susceptible people choose to get vaccinated occurs at 0.07</a:t>
            </a:r>
            <a:endParaRPr sz="1140">
              <a:latin typeface="Nunito"/>
              <a:ea typeface="Nunito"/>
              <a:cs typeface="Nunito"/>
              <a:sym typeface="Nunito"/>
            </a:endParaRPr>
          </a:p>
          <a:p>
            <a:pPr indent="-300990" lvl="1" marL="914400" rtl="0" algn="l">
              <a:lnSpc>
                <a:spcPct val="95000"/>
              </a:lnSpc>
              <a:spcBef>
                <a:spcPts val="0"/>
              </a:spcBef>
              <a:spcAft>
                <a:spcPts val="0"/>
              </a:spcAft>
              <a:buClr>
                <a:srgbClr val="E06666"/>
              </a:buClr>
              <a:buSzPts val="1140"/>
              <a:buFont typeface="Nunito"/>
              <a:buChar char="○"/>
            </a:pPr>
            <a:r>
              <a:rPr lang="en" sz="1140">
                <a:solidFill>
                  <a:srgbClr val="E06666"/>
                </a:solidFill>
                <a:latin typeface="Nunito"/>
                <a:ea typeface="Nunito"/>
                <a:cs typeface="Nunito"/>
                <a:sym typeface="Nunito"/>
              </a:rPr>
              <a:t>Parameter r: per capita rate of susceptible individuals getting vaccinated </a:t>
            </a:r>
            <a:endParaRPr sz="1140">
              <a:solidFill>
                <a:srgbClr val="E06666"/>
              </a:solidFill>
              <a:latin typeface="Nunito"/>
              <a:ea typeface="Nunito"/>
              <a:cs typeface="Nunito"/>
              <a:sym typeface="Nunito"/>
            </a:endParaRPr>
          </a:p>
          <a:p>
            <a:pPr indent="-300990" lvl="0" marL="457200" rtl="0" algn="l">
              <a:lnSpc>
                <a:spcPct val="95000"/>
              </a:lnSpc>
              <a:spcBef>
                <a:spcPts val="0"/>
              </a:spcBef>
              <a:spcAft>
                <a:spcPts val="0"/>
              </a:spcAft>
              <a:buClr>
                <a:srgbClr val="000000"/>
              </a:buClr>
              <a:buSzPts val="1140"/>
              <a:buFont typeface="Nunito"/>
              <a:buChar char="●"/>
            </a:pPr>
            <a:r>
              <a:rPr lang="en" sz="1140">
                <a:latin typeface="Nunito"/>
                <a:ea typeface="Nunito"/>
                <a:cs typeface="Nunito"/>
                <a:sym typeface="Nunito"/>
              </a:rPr>
              <a:t>People immune to the disease through vaccination or exposure both gradually lose their immunity over the course of 6 months; in other words, the per capita rate of immune (M) individuals becoming susceptible again is about .006</a:t>
            </a:r>
            <a:endParaRPr sz="1140">
              <a:latin typeface="Nunito"/>
              <a:ea typeface="Nunito"/>
              <a:cs typeface="Nunito"/>
              <a:sym typeface="Nunito"/>
            </a:endParaRPr>
          </a:p>
          <a:p>
            <a:pPr indent="-300990" lvl="1" marL="914400" rtl="0" algn="l">
              <a:lnSpc>
                <a:spcPct val="95000"/>
              </a:lnSpc>
              <a:spcBef>
                <a:spcPts val="0"/>
              </a:spcBef>
              <a:spcAft>
                <a:spcPts val="0"/>
              </a:spcAft>
              <a:buClr>
                <a:srgbClr val="E06666"/>
              </a:buClr>
              <a:buSzPts val="1140"/>
              <a:buFont typeface="Nunito"/>
              <a:buChar char="○"/>
            </a:pPr>
            <a:r>
              <a:rPr lang="en" sz="1140">
                <a:solidFill>
                  <a:srgbClr val="E06666"/>
                </a:solidFill>
                <a:latin typeface="Nunito"/>
                <a:ea typeface="Nunito"/>
                <a:cs typeface="Nunito"/>
                <a:sym typeface="Nunito"/>
              </a:rPr>
              <a:t>Parameter t: per capita rate of immune individuals becoming susceptible again</a:t>
            </a:r>
            <a:endParaRPr sz="1140">
              <a:solidFill>
                <a:srgbClr val="E06666"/>
              </a:solidFill>
              <a:latin typeface="Nunito"/>
              <a:ea typeface="Nunito"/>
              <a:cs typeface="Nunito"/>
              <a:sym typeface="Nunito"/>
            </a:endParaRPr>
          </a:p>
          <a:p>
            <a:pPr indent="0" lvl="0" marL="0" rtl="0" algn="l">
              <a:spcBef>
                <a:spcPts val="0"/>
              </a:spcBef>
              <a:spcAft>
                <a:spcPts val="0"/>
              </a:spcAft>
              <a:buNone/>
            </a:pPr>
            <a:r>
              <a:t/>
            </a:r>
            <a:endParaRPr sz="150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Flow Diagram</a:t>
            </a:r>
            <a:endParaRPr/>
          </a:p>
        </p:txBody>
      </p:sp>
      <p:pic>
        <p:nvPicPr>
          <p:cNvPr id="310" name="Google Shape;310;p18"/>
          <p:cNvPicPr preferRelativeResize="0"/>
          <p:nvPr/>
        </p:nvPicPr>
        <p:blipFill>
          <a:blip r:embed="rId3">
            <a:alphaModFix/>
          </a:blip>
          <a:stretch>
            <a:fillRect/>
          </a:stretch>
        </p:blipFill>
        <p:spPr>
          <a:xfrm>
            <a:off x="4277649" y="1597875"/>
            <a:ext cx="4303050" cy="2766250"/>
          </a:xfrm>
          <a:prstGeom prst="rect">
            <a:avLst/>
          </a:prstGeom>
          <a:noFill/>
          <a:ln>
            <a:noFill/>
          </a:ln>
        </p:spPr>
      </p:pic>
      <p:sp>
        <p:nvSpPr>
          <p:cNvPr id="311" name="Google Shape;311;p18"/>
          <p:cNvSpPr txBox="1"/>
          <p:nvPr/>
        </p:nvSpPr>
        <p:spPr>
          <a:xfrm>
            <a:off x="5169975" y="225575"/>
            <a:ext cx="3000000" cy="121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latin typeface="Nunito"/>
                <a:ea typeface="Nunito"/>
                <a:cs typeface="Nunito"/>
                <a:sym typeface="Nunito"/>
              </a:rPr>
              <a:t>ODE equations with specified numbers:</a:t>
            </a:r>
            <a:endParaRPr sz="1200">
              <a:latin typeface="Nunito"/>
              <a:ea typeface="Nunito"/>
              <a:cs typeface="Nunito"/>
              <a:sym typeface="Nunito"/>
            </a:endParaRPr>
          </a:p>
          <a:p>
            <a:pPr indent="0" lvl="0" marL="0" rtl="0" algn="l">
              <a:lnSpc>
                <a:spcPct val="115000"/>
              </a:lnSpc>
              <a:spcBef>
                <a:spcPts val="0"/>
              </a:spcBef>
              <a:spcAft>
                <a:spcPts val="0"/>
              </a:spcAft>
              <a:buNone/>
            </a:pPr>
            <a:r>
              <a:rPr lang="en" sz="1200">
                <a:latin typeface="Nunito"/>
                <a:ea typeface="Nunito"/>
                <a:cs typeface="Nunito"/>
                <a:sym typeface="Nunito"/>
              </a:rPr>
              <a:t>S’= 0.006M -.03SN - .07SI - 0.7S</a:t>
            </a:r>
            <a:endParaRPr sz="1200">
              <a:latin typeface="Nunito"/>
              <a:ea typeface="Nunito"/>
              <a:cs typeface="Nunito"/>
              <a:sym typeface="Nunito"/>
            </a:endParaRPr>
          </a:p>
          <a:p>
            <a:pPr indent="0" lvl="0" marL="0" rtl="0" algn="l">
              <a:lnSpc>
                <a:spcPct val="115000"/>
              </a:lnSpc>
              <a:spcBef>
                <a:spcPts val="0"/>
              </a:spcBef>
              <a:spcAft>
                <a:spcPts val="0"/>
              </a:spcAft>
              <a:buNone/>
            </a:pPr>
            <a:r>
              <a:rPr lang="en" sz="1200">
                <a:latin typeface="Nunito"/>
                <a:ea typeface="Nunito"/>
                <a:cs typeface="Nunito"/>
                <a:sym typeface="Nunito"/>
              </a:rPr>
              <a:t>N’= .03SN + .07SI -.25N - 0.001N</a:t>
            </a:r>
            <a:endParaRPr sz="1200">
              <a:latin typeface="Nunito"/>
              <a:ea typeface="Nunito"/>
              <a:cs typeface="Nunito"/>
              <a:sym typeface="Nunito"/>
            </a:endParaRPr>
          </a:p>
          <a:p>
            <a:pPr indent="0" lvl="0" marL="0" rtl="0" algn="l">
              <a:lnSpc>
                <a:spcPct val="115000"/>
              </a:lnSpc>
              <a:spcBef>
                <a:spcPts val="0"/>
              </a:spcBef>
              <a:spcAft>
                <a:spcPts val="0"/>
              </a:spcAft>
              <a:buNone/>
            </a:pPr>
            <a:r>
              <a:rPr lang="en" sz="1200">
                <a:latin typeface="Nunito"/>
                <a:ea typeface="Nunito"/>
                <a:cs typeface="Nunito"/>
                <a:sym typeface="Nunito"/>
              </a:rPr>
              <a:t>I’= 0.25N - 0.0005I - 0.5I</a:t>
            </a:r>
            <a:endParaRPr sz="1200">
              <a:latin typeface="Nunito"/>
              <a:ea typeface="Nunito"/>
              <a:cs typeface="Nunito"/>
              <a:sym typeface="Nunito"/>
            </a:endParaRPr>
          </a:p>
          <a:p>
            <a:pPr indent="0" lvl="0" marL="0" rtl="0" algn="l">
              <a:lnSpc>
                <a:spcPct val="115000"/>
              </a:lnSpc>
              <a:spcBef>
                <a:spcPts val="0"/>
              </a:spcBef>
              <a:spcAft>
                <a:spcPts val="0"/>
              </a:spcAft>
              <a:buNone/>
            </a:pPr>
            <a:r>
              <a:rPr lang="en" sz="1200">
                <a:latin typeface="Nunito"/>
                <a:ea typeface="Nunito"/>
                <a:cs typeface="Nunito"/>
                <a:sym typeface="Nunito"/>
              </a:rPr>
              <a:t>M’= .07S + .5I - .006M</a:t>
            </a:r>
            <a:endParaRPr sz="1200">
              <a:latin typeface="Nunito"/>
              <a:ea typeface="Nunito"/>
              <a:cs typeface="Nunito"/>
              <a:sym typeface="Nunito"/>
            </a:endParaRPr>
          </a:p>
        </p:txBody>
      </p:sp>
      <p:pic>
        <p:nvPicPr>
          <p:cNvPr id="312" name="Google Shape;312;p18"/>
          <p:cNvPicPr preferRelativeResize="0"/>
          <p:nvPr/>
        </p:nvPicPr>
        <p:blipFill rotWithShape="1">
          <a:blip r:embed="rId4">
            <a:alphaModFix/>
          </a:blip>
          <a:srcRect b="20610" l="7612" r="9647" t="18717"/>
          <a:stretch/>
        </p:blipFill>
        <p:spPr>
          <a:xfrm>
            <a:off x="728350" y="1597875"/>
            <a:ext cx="3233166" cy="3393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Simulations: Differing </a:t>
            </a:r>
            <a:r>
              <a:rPr lang="en"/>
              <a:t>initial</a:t>
            </a:r>
            <a:r>
              <a:rPr lang="en"/>
              <a:t> conditions</a:t>
            </a:r>
            <a:endParaRPr/>
          </a:p>
        </p:txBody>
      </p:sp>
      <p:pic>
        <p:nvPicPr>
          <p:cNvPr id="318" name="Google Shape;318;p19"/>
          <p:cNvPicPr preferRelativeResize="0"/>
          <p:nvPr/>
        </p:nvPicPr>
        <p:blipFill>
          <a:blip r:embed="rId3">
            <a:alphaModFix/>
          </a:blip>
          <a:stretch>
            <a:fillRect/>
          </a:stretch>
        </p:blipFill>
        <p:spPr>
          <a:xfrm>
            <a:off x="120725" y="1227300"/>
            <a:ext cx="4276725" cy="2000250"/>
          </a:xfrm>
          <a:prstGeom prst="rect">
            <a:avLst/>
          </a:prstGeom>
          <a:noFill/>
          <a:ln>
            <a:noFill/>
          </a:ln>
        </p:spPr>
      </p:pic>
      <p:pic>
        <p:nvPicPr>
          <p:cNvPr id="319" name="Google Shape;319;p19"/>
          <p:cNvPicPr preferRelativeResize="0"/>
          <p:nvPr/>
        </p:nvPicPr>
        <p:blipFill rotWithShape="1">
          <a:blip r:embed="rId4">
            <a:alphaModFix/>
          </a:blip>
          <a:srcRect b="0" l="0" r="0" t="0"/>
          <a:stretch/>
        </p:blipFill>
        <p:spPr>
          <a:xfrm>
            <a:off x="4572000" y="1370175"/>
            <a:ext cx="4248150" cy="1857375"/>
          </a:xfrm>
          <a:prstGeom prst="rect">
            <a:avLst/>
          </a:prstGeom>
          <a:noFill/>
          <a:ln>
            <a:noFill/>
          </a:ln>
        </p:spPr>
      </p:pic>
      <p:pic>
        <p:nvPicPr>
          <p:cNvPr id="320" name="Google Shape;320;p19"/>
          <p:cNvPicPr preferRelativeResize="0"/>
          <p:nvPr/>
        </p:nvPicPr>
        <p:blipFill>
          <a:blip r:embed="rId5">
            <a:alphaModFix/>
          </a:blip>
          <a:stretch>
            <a:fillRect/>
          </a:stretch>
        </p:blipFill>
        <p:spPr>
          <a:xfrm>
            <a:off x="2566100" y="3374700"/>
            <a:ext cx="4011800" cy="1768800"/>
          </a:xfrm>
          <a:prstGeom prst="rect">
            <a:avLst/>
          </a:prstGeom>
          <a:noFill/>
          <a:ln>
            <a:noFill/>
          </a:ln>
        </p:spPr>
      </p:pic>
      <p:sp>
        <p:nvSpPr>
          <p:cNvPr id="321" name="Google Shape;321;p19"/>
          <p:cNvSpPr txBox="1"/>
          <p:nvPr/>
        </p:nvSpPr>
        <p:spPr>
          <a:xfrm>
            <a:off x="-81600" y="3698925"/>
            <a:ext cx="3000000" cy="13275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SzPts val="1100"/>
              <a:buFont typeface="Nunito"/>
              <a:buChar char="●"/>
            </a:pPr>
            <a:r>
              <a:rPr lang="en" sz="1100">
                <a:latin typeface="Nunito"/>
                <a:ea typeface="Nunito"/>
                <a:cs typeface="Nunito"/>
                <a:sym typeface="Nunito"/>
              </a:rPr>
              <a:t>Dark Salmon: Immune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Char char="●"/>
            </a:pPr>
            <a:r>
              <a:rPr lang="en" sz="1100">
                <a:latin typeface="Nunito"/>
                <a:ea typeface="Nunito"/>
                <a:cs typeface="Nunito"/>
                <a:sym typeface="Nunito"/>
              </a:rPr>
              <a:t>Orange: Infected but not symptomatic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Char char="●"/>
            </a:pPr>
            <a:r>
              <a:rPr lang="en" sz="1100">
                <a:latin typeface="Nunito"/>
                <a:ea typeface="Nunito"/>
                <a:cs typeface="Nunito"/>
                <a:sym typeface="Nunito"/>
              </a:rPr>
              <a:t>Chartreuse: Infected and symptomatic </a:t>
            </a:r>
            <a:endParaRPr sz="1100">
              <a:latin typeface="Nunito"/>
              <a:ea typeface="Nunito"/>
              <a:cs typeface="Nunito"/>
              <a:sym typeface="Nunito"/>
            </a:endParaRPr>
          </a:p>
          <a:p>
            <a:pPr indent="-298450" lvl="0" marL="457200" rtl="0" algn="l">
              <a:lnSpc>
                <a:spcPct val="115000"/>
              </a:lnSpc>
              <a:spcBef>
                <a:spcPts val="0"/>
              </a:spcBef>
              <a:spcAft>
                <a:spcPts val="0"/>
              </a:spcAft>
              <a:buSzPts val="1100"/>
              <a:buFont typeface="Nunito"/>
              <a:buChar char="●"/>
            </a:pPr>
            <a:r>
              <a:rPr lang="en" sz="1100">
                <a:latin typeface="Nunito"/>
                <a:ea typeface="Nunito"/>
                <a:cs typeface="Nunito"/>
                <a:sym typeface="Nunito"/>
              </a:rPr>
              <a:t>Blue: Susceptible</a:t>
            </a:r>
            <a:endParaRPr>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0"/>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Simulations: Differing Parameter Values</a:t>
            </a:r>
            <a:endParaRPr/>
          </a:p>
        </p:txBody>
      </p:sp>
      <p:pic>
        <p:nvPicPr>
          <p:cNvPr id="327" name="Google Shape;327;p20"/>
          <p:cNvPicPr preferRelativeResize="0"/>
          <p:nvPr/>
        </p:nvPicPr>
        <p:blipFill rotWithShape="1">
          <a:blip r:embed="rId3">
            <a:alphaModFix/>
          </a:blip>
          <a:srcRect b="0" l="0" r="0" t="48982"/>
          <a:stretch/>
        </p:blipFill>
        <p:spPr>
          <a:xfrm>
            <a:off x="136575" y="1366846"/>
            <a:ext cx="3650976" cy="1612025"/>
          </a:xfrm>
          <a:prstGeom prst="rect">
            <a:avLst/>
          </a:prstGeom>
          <a:noFill/>
          <a:ln>
            <a:noFill/>
          </a:ln>
        </p:spPr>
      </p:pic>
      <p:pic>
        <p:nvPicPr>
          <p:cNvPr id="328" name="Google Shape;328;p20"/>
          <p:cNvPicPr preferRelativeResize="0"/>
          <p:nvPr/>
        </p:nvPicPr>
        <p:blipFill rotWithShape="1">
          <a:blip r:embed="rId4">
            <a:alphaModFix/>
          </a:blip>
          <a:srcRect b="0" l="1603" r="0" t="51157"/>
          <a:stretch/>
        </p:blipFill>
        <p:spPr>
          <a:xfrm>
            <a:off x="4637225" y="1366850"/>
            <a:ext cx="4063025" cy="1813150"/>
          </a:xfrm>
          <a:prstGeom prst="rect">
            <a:avLst/>
          </a:prstGeom>
          <a:noFill/>
          <a:ln>
            <a:noFill/>
          </a:ln>
        </p:spPr>
      </p:pic>
      <p:pic>
        <p:nvPicPr>
          <p:cNvPr id="329" name="Google Shape;329;p20"/>
          <p:cNvPicPr preferRelativeResize="0"/>
          <p:nvPr/>
        </p:nvPicPr>
        <p:blipFill rotWithShape="1">
          <a:blip r:embed="rId5">
            <a:alphaModFix/>
          </a:blip>
          <a:srcRect b="0" l="0" r="0" t="64108"/>
          <a:stretch/>
        </p:blipFill>
        <p:spPr>
          <a:xfrm>
            <a:off x="2085800" y="3179996"/>
            <a:ext cx="4204832" cy="18598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Simulation Observations</a:t>
            </a:r>
            <a:endParaRPr/>
          </a:p>
        </p:txBody>
      </p:sp>
      <p:sp>
        <p:nvSpPr>
          <p:cNvPr id="335" name="Google Shape;335;p21"/>
          <p:cNvSpPr txBox="1"/>
          <p:nvPr>
            <p:ph idx="1" type="body"/>
          </p:nvPr>
        </p:nvSpPr>
        <p:spPr>
          <a:xfrm>
            <a:off x="663575" y="1878725"/>
            <a:ext cx="7881900" cy="2541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Char char="●"/>
            </a:pPr>
            <a:r>
              <a:rPr lang="en" sz="1600">
                <a:solidFill>
                  <a:srgbClr val="000000"/>
                </a:solidFill>
              </a:rPr>
              <a:t>Changing parameter values changes the relative proportions of each group in the model but the end behavior remains a constant value (all populations approach a constant value over time).</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Changing initial conditions changes the population values of each group in the model but the graph remains the same otherwise. In the long run, the immune group represents the majority of the population.</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No oscillations because our system of equations does not have steep a enough negative feedback loop that would add oscillations to our graphs </a:t>
            </a:r>
            <a:endParaRPr sz="1600">
              <a:solidFill>
                <a:srgbClr val="000000"/>
              </a:solidFill>
            </a:endParaRPr>
          </a:p>
          <a:p>
            <a:pPr indent="0" lvl="0" marL="0" rtl="0" algn="l">
              <a:spcBef>
                <a:spcPts val="0"/>
              </a:spcBef>
              <a:spcAft>
                <a:spcPts val="120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Stability Analysis: Equilibria </a:t>
            </a:r>
            <a:endParaRPr/>
          </a:p>
        </p:txBody>
      </p:sp>
      <p:pic>
        <p:nvPicPr>
          <p:cNvPr id="341" name="Google Shape;341;p22"/>
          <p:cNvPicPr preferRelativeResize="0"/>
          <p:nvPr/>
        </p:nvPicPr>
        <p:blipFill>
          <a:blip r:embed="rId3">
            <a:alphaModFix/>
          </a:blip>
          <a:stretch>
            <a:fillRect/>
          </a:stretch>
        </p:blipFill>
        <p:spPr>
          <a:xfrm>
            <a:off x="254800" y="2035525"/>
            <a:ext cx="8634400" cy="1231500"/>
          </a:xfrm>
          <a:prstGeom prst="rect">
            <a:avLst/>
          </a:prstGeom>
          <a:noFill/>
          <a:ln>
            <a:noFill/>
          </a:ln>
        </p:spPr>
      </p:pic>
      <p:sp>
        <p:nvSpPr>
          <p:cNvPr id="342" name="Google Shape;342;p22"/>
          <p:cNvSpPr txBox="1"/>
          <p:nvPr/>
        </p:nvSpPr>
        <p:spPr>
          <a:xfrm>
            <a:off x="1303800" y="3704675"/>
            <a:ext cx="6186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latin typeface="Nunito"/>
                <a:ea typeface="Nunito"/>
                <a:cs typeface="Nunito"/>
                <a:sym typeface="Nunito"/>
              </a:rPr>
              <a:t>Note: Only the equilibrium point (0,0,0,0) is viable when taking into account biological significance as the other equilibrium point requires negative population values.</a:t>
            </a:r>
            <a:endParaRPr sz="1100">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Stability Analysis:Finding Eigenvalues</a:t>
            </a:r>
            <a:endParaRPr/>
          </a:p>
        </p:txBody>
      </p:sp>
      <p:pic>
        <p:nvPicPr>
          <p:cNvPr id="348" name="Google Shape;348;p23"/>
          <p:cNvPicPr preferRelativeResize="0"/>
          <p:nvPr/>
        </p:nvPicPr>
        <p:blipFill>
          <a:blip r:embed="rId3">
            <a:alphaModFix/>
          </a:blip>
          <a:stretch>
            <a:fillRect/>
          </a:stretch>
        </p:blipFill>
        <p:spPr>
          <a:xfrm>
            <a:off x="152400" y="1512550"/>
            <a:ext cx="3541637" cy="3240825"/>
          </a:xfrm>
          <a:prstGeom prst="rect">
            <a:avLst/>
          </a:prstGeom>
          <a:noFill/>
          <a:ln>
            <a:noFill/>
          </a:ln>
        </p:spPr>
      </p:pic>
      <p:pic>
        <p:nvPicPr>
          <p:cNvPr id="349" name="Google Shape;349;p23"/>
          <p:cNvPicPr preferRelativeResize="0"/>
          <p:nvPr/>
        </p:nvPicPr>
        <p:blipFill>
          <a:blip r:embed="rId4">
            <a:alphaModFix/>
          </a:blip>
          <a:stretch>
            <a:fillRect/>
          </a:stretch>
        </p:blipFill>
        <p:spPr>
          <a:xfrm>
            <a:off x="3846425" y="1509725"/>
            <a:ext cx="2884517" cy="1897475"/>
          </a:xfrm>
          <a:prstGeom prst="rect">
            <a:avLst/>
          </a:prstGeom>
          <a:noFill/>
          <a:ln>
            <a:noFill/>
          </a:ln>
        </p:spPr>
      </p:pic>
      <p:pic>
        <p:nvPicPr>
          <p:cNvPr id="350" name="Google Shape;350;p23"/>
          <p:cNvPicPr preferRelativeResize="0"/>
          <p:nvPr/>
        </p:nvPicPr>
        <p:blipFill>
          <a:blip r:embed="rId5">
            <a:alphaModFix/>
          </a:blip>
          <a:stretch>
            <a:fillRect/>
          </a:stretch>
        </p:blipFill>
        <p:spPr>
          <a:xfrm>
            <a:off x="6009450" y="3407200"/>
            <a:ext cx="3134550" cy="1736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Stability Analysis: Eigenvalues continued</a:t>
            </a:r>
            <a:endParaRPr/>
          </a:p>
        </p:txBody>
      </p:sp>
      <p:pic>
        <p:nvPicPr>
          <p:cNvPr id="356" name="Google Shape;356;p24"/>
          <p:cNvPicPr preferRelativeResize="0"/>
          <p:nvPr/>
        </p:nvPicPr>
        <p:blipFill>
          <a:blip r:embed="rId3">
            <a:alphaModFix/>
          </a:blip>
          <a:stretch>
            <a:fillRect/>
          </a:stretch>
        </p:blipFill>
        <p:spPr>
          <a:xfrm>
            <a:off x="329450" y="2770613"/>
            <a:ext cx="5943600" cy="504825"/>
          </a:xfrm>
          <a:prstGeom prst="rect">
            <a:avLst/>
          </a:prstGeom>
          <a:noFill/>
          <a:ln>
            <a:noFill/>
          </a:ln>
        </p:spPr>
      </p:pic>
      <p:sp>
        <p:nvSpPr>
          <p:cNvPr id="357" name="Google Shape;357;p24"/>
          <p:cNvSpPr txBox="1"/>
          <p:nvPr/>
        </p:nvSpPr>
        <p:spPr>
          <a:xfrm>
            <a:off x="231650" y="1828350"/>
            <a:ext cx="61392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latin typeface="Nunito"/>
                <a:ea typeface="Nunito"/>
                <a:cs typeface="Nunito"/>
                <a:sym typeface="Nunito"/>
              </a:rPr>
              <a:t>Each of the eigenvalues associated with the point (0,0,0,0) are less than 0, indicating that the equilibrium point of the model at (0,0,0,0) is stable.</a:t>
            </a:r>
            <a:endParaRPr sz="1100">
              <a:latin typeface="Nunito"/>
              <a:ea typeface="Nunito"/>
              <a:cs typeface="Nunito"/>
              <a:sym typeface="Nunito"/>
            </a:endParaRPr>
          </a:p>
          <a:p>
            <a:pPr indent="0" lvl="0" marL="0" rtl="0" algn="l">
              <a:lnSpc>
                <a:spcPct val="115000"/>
              </a:lnSpc>
              <a:spcBef>
                <a:spcPts val="0"/>
              </a:spcBef>
              <a:spcAft>
                <a:spcPts val="0"/>
              </a:spcAft>
              <a:buNone/>
            </a:pPr>
            <a:r>
              <a:rPr lang="en" sz="1100">
                <a:latin typeface="Nunito"/>
                <a:ea typeface="Nunito"/>
                <a:cs typeface="Nunito"/>
                <a:sym typeface="Nunito"/>
              </a:rPr>
              <a:t>In the case of the eigenvalues for the point </a:t>
            </a:r>
            <a:endParaRPr>
              <a:latin typeface="Nunito"/>
              <a:ea typeface="Nunito"/>
              <a:cs typeface="Nunito"/>
              <a:sym typeface="Nunito"/>
            </a:endParaRPr>
          </a:p>
        </p:txBody>
      </p:sp>
      <p:sp>
        <p:nvSpPr>
          <p:cNvPr id="358" name="Google Shape;358;p24"/>
          <p:cNvSpPr txBox="1"/>
          <p:nvPr/>
        </p:nvSpPr>
        <p:spPr>
          <a:xfrm>
            <a:off x="231650" y="3474300"/>
            <a:ext cx="68205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latin typeface="Nunito"/>
                <a:ea typeface="Nunito"/>
                <a:cs typeface="Nunito"/>
                <a:sym typeface="Nunito"/>
              </a:rPr>
              <a:t>3 of the eigenvalues contain a positive real part of the complex eigenvalue while 1 of the eigenvalues has a negative real part of the complex eigenvalue. This implies that the equilibrium point has a stability most similar to that of an unstable spiral.</a:t>
            </a:r>
            <a:endParaRPr sz="1100">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