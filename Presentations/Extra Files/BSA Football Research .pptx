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CE3440-4530-4ACE-851F-3DF56DB95B33}">
  <a:tblStyle styleId="{15CE3440-4530-4ACE-851F-3DF56DB95B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1b90f65cc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1b90f65cc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1b90f65cca_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1b90f65cca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93169eeb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193169eeb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b90f65cc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b90f65cc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b90f65cca_3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b90f65cca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b90f65cca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b90f65cca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b90f65cca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b90f65cca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b90f65cca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b90f65cc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b9750942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b9750942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93169eeb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93169eeb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90f65cca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b90f65cca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93169eeb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93169eeb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b90f65cc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b90f65cc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b90f65cc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b90f65cc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93169eeb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93169eeb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11496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114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9144000" cy="11496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hyperlink" Target="https://chue02-bsaresearch-xgbmodelxgb-app-zzyaol.streamlit.app/#nfl-coverage-4th-qtr-epa-predicto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BSA Football Research</a:t>
            </a:r>
            <a:endParaRPr sz="5400"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2024</a:t>
            </a:r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1816" y="108521"/>
            <a:ext cx="1642434" cy="16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500"/>
              <a:t>What are the best strategies defensive play callers can use to maximize defensive EPA during “clutch time”?</a:t>
            </a:r>
            <a:endParaRPr sz="2500"/>
          </a:p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SzPts val="2500"/>
              <a:buChar char="-"/>
            </a:pPr>
            <a:r>
              <a:rPr i="1" lang="en" sz="2500"/>
              <a:t>How can we predict EPA in a single play based on a given scenario?</a:t>
            </a:r>
            <a:endParaRPr i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i="1" lang="en" sz="2500"/>
              <a:t>How can we predict what the offense will do?</a:t>
            </a:r>
            <a:endParaRPr i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i="1" lang="en" sz="2500"/>
              <a:t>How can we account for the past 58 minutes of the game when making our predictions?</a:t>
            </a:r>
            <a:endParaRPr i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i="1" lang="en" sz="2500"/>
              <a:t>How can we account for variability in the quality and playstyles of opposing QBs?</a:t>
            </a:r>
            <a:endParaRPr i="1" sz="2500"/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“clutch time”?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57200" y="1200150"/>
            <a:ext cx="82296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u="sng"/>
              <a:t>We are defining “clutch time” as situations where:</a:t>
            </a:r>
            <a:endParaRPr sz="2100" u="sng"/>
          </a:p>
          <a:p>
            <a:pPr indent="-361950" lvl="0" marL="457200" rtl="0" algn="l">
              <a:spcBef>
                <a:spcPts val="60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Two minute drill (exactly 120 seconds remaining in the game)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The point differential is less than or equal to 8 points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 u="sng"/>
              <a:t>What is EPA (Expected Points Added)?</a:t>
            </a:r>
            <a:endParaRPr sz="2100" u="sng"/>
          </a:p>
          <a:p>
            <a:pPr indent="-361950" lvl="0" marL="457200" rtl="0" algn="l">
              <a:spcBef>
                <a:spcPts val="600"/>
              </a:spcBef>
              <a:spcAft>
                <a:spcPts val="0"/>
              </a:spcAft>
              <a:buSzPts val="2100"/>
              <a:buChar char="-"/>
            </a:pPr>
            <a:r>
              <a:rPr i="1" lang="en" sz="2100"/>
              <a:t>Expected points</a:t>
            </a:r>
            <a:r>
              <a:rPr lang="en" sz="2100"/>
              <a:t> </a:t>
            </a:r>
            <a:r>
              <a:rPr i="1" lang="en" sz="2100"/>
              <a:t>(EP)</a:t>
            </a:r>
            <a:r>
              <a:rPr lang="en" sz="2100"/>
              <a:t> is the average number of points yielded at the end of the drive based on field position, down, and distance,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After the play, </a:t>
            </a:r>
            <a:r>
              <a:rPr i="1" lang="en" sz="2100"/>
              <a:t>EPA</a:t>
            </a:r>
            <a:r>
              <a:rPr lang="en" sz="2100"/>
              <a:t> = </a:t>
            </a:r>
            <a:r>
              <a:rPr i="1" lang="en" sz="2100"/>
              <a:t>new EP - old EPA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Eg: On their own 35, the EP from drive roughly 0.5 points, but on the opponent’s 35 EP is roughly 2.5 </a:t>
            </a:r>
            <a:r>
              <a:rPr lang="en" sz="2100"/>
              <a:t>points</a:t>
            </a:r>
            <a:r>
              <a:rPr lang="en" sz="2100"/>
              <a:t>. If a play starts at the own 35 and gains 30 yards, </a:t>
            </a:r>
            <a:r>
              <a:rPr i="1" lang="en" sz="2100"/>
              <a:t>EPA = 2.5 - 0.5 = 2</a:t>
            </a:r>
            <a:endParaRPr i="1"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Dataset #1: nflverse play by play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This contains formation data, pressure, coverage-type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Focus on 2018-2023 → rule changes created different play styles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Dataset #2: nflverse comprehensive data 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This contains data for each game, 1999-2024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Contains required EPA data, timestamps within games (372 columns)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Model Background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386800" y="1200150"/>
            <a:ext cx="8300100" cy="3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This regression model predicts </a:t>
            </a:r>
            <a:r>
              <a:rPr b="1" lang="en" sz="2400"/>
              <a:t>passing</a:t>
            </a:r>
            <a:r>
              <a:rPr lang="en" sz="2400"/>
              <a:t> EPA against all coverages given a situation and route targeted.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Used XGBoost because it efficiently handles complex data and reduces potential complications.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Selected several features to represent a specific potential scenario in a play.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Uses datasets 1 and 2, mostly 1 due to coverage data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Only uses plays during clutch time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It evaluates a given play in a vacuum and does </a:t>
            </a:r>
            <a:r>
              <a:rPr i="1" lang="en" sz="2400"/>
              <a:t>not</a:t>
            </a:r>
            <a:r>
              <a:rPr lang="en" sz="2400"/>
              <a:t> account for the previous 58 minutes of the game. </a:t>
            </a:r>
            <a:endParaRPr sz="2400"/>
          </a:p>
        </p:txBody>
      </p:sp>
      <p:pic>
        <p:nvPicPr>
          <p:cNvPr id="66" name="Google Shape;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Model Features</a:t>
            </a: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" name="Google Shape;73;p13"/>
          <p:cNvGraphicFramePr/>
          <p:nvPr/>
        </p:nvGraphicFramePr>
        <p:xfrm>
          <a:off x="267750" y="15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{15CE3440-4530-4ACE-851F-3DF56DB95B33}</a:tableStyleId>
              </a:tblPr>
              <a:tblGrid>
                <a:gridCol w="2869500"/>
                <a:gridCol w="2869500"/>
                <a:gridCol w="286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/>
                        <a:t>Situational</a:t>
                      </a:r>
                      <a:endParaRPr b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solidFill>
                            <a:schemeClr val="dk1"/>
                          </a:solidFill>
                        </a:rPr>
                        <a:t>Defensive Properties</a:t>
                      </a:r>
                      <a:endParaRPr b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/>
                        <a:t>Offensive Properties</a:t>
                      </a:r>
                      <a:endParaRPr b="1" u="sng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Points down by (0-8)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defenders in box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Pass length (short/long)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pass rushers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Pass location (left, middle, right)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Distance to 1st down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to throw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Did play go out of bounds?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Yardline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Was QB pressured?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huddle?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Timeouts left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Coverage played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Route targeted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Seconds remaining (0-120)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Model App</a:t>
            </a:r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231424"/>
            <a:ext cx="4480076" cy="326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7274" y="1231425"/>
            <a:ext cx="3636381" cy="32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219550" y="4495725"/>
            <a:ext cx="88758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One can input a scenario to the model using this web app constructed with Streamlit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Model Evaluation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 u="sng"/>
              <a:t>Model </a:t>
            </a:r>
            <a:r>
              <a:rPr b="1" lang="en" sz="2400" u="sng"/>
              <a:t>Metric Evaluation:</a:t>
            </a:r>
            <a:endParaRPr b="1" sz="2400" u="sng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Mean Absolute Error (MAE):</a:t>
            </a:r>
            <a:r>
              <a:rPr lang="en" sz="1800"/>
              <a:t> </a:t>
            </a:r>
            <a:r>
              <a:rPr b="1" lang="en" sz="1800"/>
              <a:t>0.782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Mean Squared Error (MSE):</a:t>
            </a:r>
            <a:r>
              <a:rPr lang="en" sz="1800"/>
              <a:t> </a:t>
            </a:r>
            <a:r>
              <a:rPr b="1" lang="en" sz="1800"/>
              <a:t>1.472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Root Mean Squared Error (RMSE): </a:t>
            </a:r>
            <a:r>
              <a:rPr b="1" lang="en" sz="1800"/>
              <a:t>1.213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R-squared (R²):</a:t>
            </a:r>
            <a:r>
              <a:rPr lang="en" sz="1800"/>
              <a:t> </a:t>
            </a:r>
            <a:r>
              <a:rPr b="1" lang="en" sz="1800"/>
              <a:t>0.207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 u="sng"/>
              <a:t>Baseline Metric</a:t>
            </a:r>
            <a:r>
              <a:rPr b="1" lang="en" sz="2400" u="sng"/>
              <a:t> Evaluation:</a:t>
            </a:r>
            <a:endParaRPr b="1" sz="2400" u="sng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9" name="Google Shape;89;p15"/>
          <p:cNvGraphicFramePr/>
          <p:nvPr/>
        </p:nvGraphicFramePr>
        <p:xfrm>
          <a:off x="457200" y="335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{15CE3440-4530-4ACE-851F-3DF56DB95B33}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/>
                        <a:t>Mean Baseline</a:t>
                      </a:r>
                      <a:endParaRPr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/>
                        <a:t>Median Baseline</a:t>
                      </a:r>
                      <a:endParaRPr u="sng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Mean Absolute Error (MAE)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1.885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1.908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Mean Squared Error (MSE)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0.904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0.892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R-Squared (R²)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-0.012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Route Classifier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173025" y="1352725"/>
            <a:ext cx="8572500" cy="3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</a:rPr>
              <a:t>Goal</a:t>
            </a:r>
            <a:endParaRPr b="1" sz="2000" u="sng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Use play by play data (via Next Gen Stats) to classify the route concept of individual plays prior to the snap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Trained on a random subset of the data from 2018-2023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</a:rPr>
              <a:t>Final Method</a:t>
            </a:r>
            <a:endParaRPr b="1" sz="2000" u="sng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Used a naive Bayes classifier for multiclass prediction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Chosen over more complex and tree-based models due to model simplicity and interpretability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Accuracy gains were marginal in comparison to changes in these factors (despite assumption of </a:t>
            </a:r>
            <a:r>
              <a:rPr lang="en" sz="2000">
                <a:solidFill>
                  <a:schemeClr val="dk1"/>
                </a:solidFill>
              </a:rPr>
              <a:t>feature independence)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Route Classifier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73025" y="1352725"/>
            <a:ext cx="8572500" cy="3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</a:rPr>
              <a:t>Model Results</a:t>
            </a:r>
            <a:endParaRPr b="1" sz="2000" u="sng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Accuracy of 0.3817 on testing data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No Information Rate: 0.1613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P value (Accuracy &gt; NIR): &lt; 2.2e-16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</a:rPr>
              <a:t>Most Important Predictors</a:t>
            </a:r>
            <a:r>
              <a:rPr lang="en" sz="2000">
                <a:solidFill>
                  <a:schemeClr val="dk1"/>
                </a:solidFill>
              </a:rPr>
              <a:t> (in order of importance)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Team of possession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Defensive personnel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Defensive coverage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Offensive formation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Offensive personnel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Bayesian Network (Joint Probability)</a:t>
            </a:r>
            <a:endParaRPr sz="3200"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81000" y="1303525"/>
            <a:ext cx="4242300" cy="4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-"/>
            </a:pPr>
            <a:r>
              <a:rPr b="1" lang="en"/>
              <a:t>Advantages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Computationally resourceful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Versatile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Reliable</a:t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5333750" y="1303525"/>
            <a:ext cx="3000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b="1" lang="en" sz="3000">
                <a:solidFill>
                  <a:schemeClr val="dk1"/>
                </a:solidFill>
              </a:rPr>
              <a:t>Goal</a:t>
            </a:r>
            <a:endParaRPr sz="3000"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Split by scenarios</a:t>
            </a:r>
            <a:endParaRPr sz="2400"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Find weights of regressors</a:t>
            </a:r>
            <a:endParaRPr sz="2400"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Run predictions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457200" y="895350"/>
            <a:ext cx="3959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5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b="1" lang="en"/>
              <a:t>Results</a:t>
            </a:r>
            <a:endParaRPr b="1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/>
              <a:t>MLE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/>
              <a:t>MAE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/>
              <a:t>Normalization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/>
              <a:t>MSE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/>
              <a:t>R^2 (Unreliable)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/>
              <a:t>STDEV and MEAN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Bayesian Network (Joint Probability)</a:t>
            </a:r>
            <a:endParaRPr sz="3200"/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5248475" y="1326750"/>
            <a:ext cx="3000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b="1" lang="en" sz="3000">
                <a:solidFill>
                  <a:schemeClr val="dk1"/>
                </a:solidFill>
              </a:rPr>
              <a:t>Features</a:t>
            </a:r>
            <a:endParaRPr b="1" sz="30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Play type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Time (seconds)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WP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Down and distance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QB Clustering</a:t>
            </a:r>
            <a:endParaRPr sz="3300"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Goals of clustering</a:t>
            </a:r>
            <a:endParaRPr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reduce complexity 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wanted</a:t>
            </a:r>
            <a:r>
              <a:rPr lang="en" sz="1900"/>
              <a:t> to account for QB quality, playing style, mobility</a:t>
            </a:r>
            <a:endParaRPr sz="19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Features used</a:t>
            </a:r>
            <a:endParaRPr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Style</a:t>
            </a:r>
            <a:r>
              <a:rPr lang="en" sz="1900"/>
              <a:t>: Attempts/game, Aggressiveness%, Time to throw, intended air yards/attempt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Mobility: Rushing Y/A, Y/G, TD/G, A/G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Quality: QBR</a:t>
            </a:r>
            <a:endParaRPr sz="19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Methodology</a:t>
            </a:r>
            <a:endParaRPr sz="2500"/>
          </a:p>
          <a:p>
            <a:pPr indent="-349250" lvl="1" marL="914400" rtl="0" algn="l">
              <a:spcBef>
                <a:spcPts val="60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Scaled Data, removed outliers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kMeans clustering w/ elbow technique to select # of clusters</a:t>
            </a:r>
            <a:endParaRPr sz="1900"/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QB Clustering (cont.)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Add visualizations and examples of classes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PCA for visualization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0302" y="2729575"/>
            <a:ext cx="2802801" cy="19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6871688" y="2204250"/>
            <a:ext cx="2449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Mobility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3936863" y="2204250"/>
            <a:ext cx="2449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Style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6625" y="2887388"/>
            <a:ext cx="2515550" cy="18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432400" y="2476500"/>
            <a:ext cx="2719500" cy="21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Ended w/ 6 style clusters  (could be reduced) (ex: Gunslingers, Quick short passers, dual-threat playmakers)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4 mobility clusters (could be reduced) (ex: scramblers, not mobile, low-usage vs high-usage dual-threats)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Data limitations → the play by play data lacked sufficient route concept logs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Toughness of predicting certain routes due to their lack of usage during crunch time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This anyways makes its unpredictability not a significant challenge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Issues with using time series data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Plans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Merging all our solutions to these </a:t>
            </a:r>
            <a:r>
              <a:rPr lang="en" sz="2400"/>
              <a:t>subproblems</a:t>
            </a:r>
            <a:r>
              <a:rPr lang="en" sz="2400"/>
              <a:t> to solve the overarching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Create singular deliverable based on merged models where users can input a scenario to get predictions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Accounting for QB’s passing location tendencies, time to throw, difficulty to pressure, and quality via QBR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Using QB Clustering to improve accuracy of route classification and EPA predictions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Consider clustering defensive tendencies</a:t>
            </a:r>
            <a:endParaRPr sz="2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075" y="244800"/>
            <a:ext cx="776725" cy="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