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rtKu9+7oST+0ebuKEG6dy0WFS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8541ac603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58541ac603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97c3abcf1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597c3abcf1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97c3abcf1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597c3abcf1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8541ac603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58541ac603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97c3abcf1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597c3abcf1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a4696c01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5a4696c01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97c3abcf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597c3abcf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9"/>
            <a:ext cx="12192372" cy="68577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969477"/>
            <a:ext cx="9144000" cy="1670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b="1" lang="en-US" sz="3400">
                <a:solidFill>
                  <a:schemeClr val="lt1"/>
                </a:solidFill>
              </a:rPr>
              <a:t>Research on Research on Research: Analyzing Historical Trends in Statistical and Computational Research from the 1990s to Modern Day</a:t>
            </a:r>
            <a:endParaRPr b="1"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640015"/>
            <a:ext cx="9144000" cy="9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3000">
                <a:solidFill>
                  <a:schemeClr val="lt1"/>
                </a:solidFill>
              </a:rPr>
              <a:t>Naren Prakash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Motivation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has the current research landscape for statistical and computational fields changed in the past 30 years?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Can we trace the development of ideas in more “recent” fields such as generative AI and reinforcement learning?</a:t>
            </a:r>
            <a:endParaRPr/>
          </a:p>
        </p:txBody>
      </p:sp>
      <p:cxnSp>
        <p:nvCxnSpPr>
          <p:cNvPr id="97" name="Google Shape;97;p2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2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2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pic>
        <p:nvPicPr>
          <p:cNvPr id="100" name="Google Shape;10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874" y="3583525"/>
            <a:ext cx="1438175" cy="222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Dataset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136,238 observations and 10 columns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Column names: id, title, category, category code, published date, updated date, authors, first author, summary, and summary word count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Originally scraped from arXiv, dataset from Kaggle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initial analysis: partitioned into two datasets (one statistical, one computational)</a:t>
            </a:r>
            <a:endParaRPr/>
          </a:p>
        </p:txBody>
      </p:sp>
      <p:cxnSp>
        <p:nvCxnSpPr>
          <p:cNvPr id="107" name="Google Shape;107;p3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3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3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EDA Plots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4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4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pic>
        <p:nvPicPr>
          <p:cNvPr id="118" name="Google Shape;118;p4" title="stat_eda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25" y="2156536"/>
            <a:ext cx="5607200" cy="2954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p4" title="comp_eda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1625" y="2156524"/>
            <a:ext cx="5461550" cy="28778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Initial Results: Statistical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Largest publication increases: Machine Learning, Methodology, Applications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Top 3 fields remained Machine Learning, Methodology, and Application/Computation</a:t>
            </a:r>
            <a:endParaRPr/>
          </a:p>
        </p:txBody>
      </p:sp>
      <p:cxnSp>
        <p:nvCxnSpPr>
          <p:cNvPr id="126" name="Google Shape;126;p5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5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5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Initial Results: Computational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Largest publication increases: Artificial Intelligence, Computer Vision, Neural and Evolutionary Computing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Top 3 fields remained Artificial Intelligence, Computation and Language (NLP), Computer Vision and Pattern Recognition</a:t>
            </a:r>
            <a:endParaRPr/>
          </a:p>
        </p:txBody>
      </p:sp>
      <p:cxnSp>
        <p:nvCxnSpPr>
          <p:cNvPr id="135" name="Google Shape;135;p6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6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6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Predictive Model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774250" y="18478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Time series model created using a LightGBM regressor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Monthly data from 1994 to 2024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Aim to predict research output for the first half of 2025</a:t>
            </a:r>
            <a:endParaRPr/>
          </a:p>
        </p:txBody>
      </p:sp>
      <p:cxnSp>
        <p:nvCxnSpPr>
          <p:cNvPr id="144" name="Google Shape;144;p7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7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7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Prediction Results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8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8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pic>
        <p:nvPicPr>
          <p:cNvPr id="155" name="Google Shape;155;p8" title="stat_pre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75" y="2229400"/>
            <a:ext cx="5557499" cy="29284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8" title="comp_pre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950" y="2229400"/>
            <a:ext cx="5557503" cy="292842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8"/>
          <p:cNvSpPr txBox="1"/>
          <p:nvPr/>
        </p:nvSpPr>
        <p:spPr>
          <a:xfrm>
            <a:off x="2465500" y="1718100"/>
            <a:ext cx="2354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7920650" y="1690700"/>
            <a:ext cx="2354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Digging Deeper: </a:t>
            </a:r>
            <a:r>
              <a:rPr b="1" lang="en-US">
                <a:solidFill>
                  <a:srgbClr val="005587"/>
                </a:solidFill>
              </a:rPr>
              <a:t>Ideological</a:t>
            </a:r>
            <a:r>
              <a:rPr b="1" lang="en-US">
                <a:solidFill>
                  <a:srgbClr val="005587"/>
                </a:solidFill>
              </a:rPr>
              <a:t> Progression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 can we analyze by content and not just category?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Want to use text mining techniques such as: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n-grams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topic modeling techniques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clustering</a:t>
            </a:r>
            <a:endParaRPr/>
          </a:p>
        </p:txBody>
      </p:sp>
      <p:cxnSp>
        <p:nvCxnSpPr>
          <p:cNvPr id="165" name="Google Shape;165;p9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9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9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8541ac603_0_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BERTopic: Extraction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and Labeling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58541ac603_0_5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Used paper abstracts to extract key words and phrases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Why BERTopic?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Contextual understanding from Large Language Models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Incorporation of traditional text mining techniques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TF-IDF, n-grams, etc.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g358541ac603_0_53"/>
          <p:cNvCxnSpPr/>
          <p:nvPr/>
        </p:nvCxnSpPr>
        <p:spPr>
          <a:xfrm flipH="1" rot="10800000">
            <a:off x="838200" y="1528699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5" name="Google Shape;175;g358541ac603_0_53"/>
          <p:cNvCxnSpPr/>
          <p:nvPr/>
        </p:nvCxnSpPr>
        <p:spPr>
          <a:xfrm flipH="1" rot="10800000">
            <a:off x="838200" y="6003720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g358541ac603_0_53"/>
          <p:cNvSpPr txBox="1"/>
          <p:nvPr>
            <p:ph idx="11" type="ftr"/>
          </p:nvPr>
        </p:nvSpPr>
        <p:spPr>
          <a:xfrm>
            <a:off x="838200" y="6356350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97c3abcf1_0_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How do we find these labels?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597c3abcf1_0_48"/>
          <p:cNvCxnSpPr/>
          <p:nvPr/>
        </p:nvCxnSpPr>
        <p:spPr>
          <a:xfrm flipH="1" rot="10800000">
            <a:off x="838200" y="1528699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3" name="Google Shape;183;g3597c3abcf1_0_48"/>
          <p:cNvCxnSpPr/>
          <p:nvPr/>
        </p:nvCxnSpPr>
        <p:spPr>
          <a:xfrm flipH="1" rot="10800000">
            <a:off x="838200" y="6003720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g3597c3abcf1_0_48"/>
          <p:cNvSpPr txBox="1"/>
          <p:nvPr>
            <p:ph idx="11" type="ftr"/>
          </p:nvPr>
        </p:nvSpPr>
        <p:spPr>
          <a:xfrm>
            <a:off x="838200" y="6356350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85" name="Google Shape;185;g3597c3abcf1_0_48"/>
          <p:cNvSpPr txBox="1"/>
          <p:nvPr/>
        </p:nvSpPr>
        <p:spPr>
          <a:xfrm>
            <a:off x="908325" y="1778275"/>
            <a:ext cx="10426500" cy="4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BERTopic Pipeline: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 reduction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UMAP (Uniform Manifold Approximation and Projection)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HDBSCAN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 Modeling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CountVectorizer, c-TF-IDF, KeyBERT, ChatGPT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97c3abcf1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How do we find these labels?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g3597c3abcf1_0_30"/>
          <p:cNvCxnSpPr/>
          <p:nvPr/>
        </p:nvCxnSpPr>
        <p:spPr>
          <a:xfrm flipH="1" rot="10800000">
            <a:off x="838200" y="1528699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g3597c3abcf1_0_30"/>
          <p:cNvCxnSpPr/>
          <p:nvPr/>
        </p:nvCxnSpPr>
        <p:spPr>
          <a:xfrm flipH="1" rot="10800000">
            <a:off x="838200" y="6003720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g3597c3abcf1_0_30"/>
          <p:cNvSpPr txBox="1"/>
          <p:nvPr>
            <p:ph idx="11" type="ftr"/>
          </p:nvPr>
        </p:nvSpPr>
        <p:spPr>
          <a:xfrm>
            <a:off x="838200" y="6356350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pic>
        <p:nvPicPr>
          <p:cNvPr id="194" name="Google Shape;194;g3597c3abcf1_0_30"/>
          <p:cNvPicPr preferRelativeResize="0"/>
          <p:nvPr/>
        </p:nvPicPr>
        <p:blipFill rotWithShape="1">
          <a:blip r:embed="rId3">
            <a:alphaModFix/>
          </a:blip>
          <a:srcRect b="6001" l="1037" r="6335" t="4697"/>
          <a:stretch/>
        </p:blipFill>
        <p:spPr>
          <a:xfrm>
            <a:off x="3019225" y="1542200"/>
            <a:ext cx="6518550" cy="44615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8541ac603_0_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Labels</a:t>
            </a: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 (35 </a:t>
            </a:r>
            <a:r>
              <a:rPr b="1" lang="en-US">
                <a:solidFill>
                  <a:srgbClr val="005587"/>
                </a:solidFill>
              </a:rPr>
              <a:t>final topics)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58541ac603_0_45"/>
          <p:cNvCxnSpPr/>
          <p:nvPr/>
        </p:nvCxnSpPr>
        <p:spPr>
          <a:xfrm flipH="1" rot="10800000">
            <a:off x="838200" y="1528699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" name="Google Shape;201;g358541ac603_0_45"/>
          <p:cNvCxnSpPr/>
          <p:nvPr/>
        </p:nvCxnSpPr>
        <p:spPr>
          <a:xfrm flipH="1" rot="10800000">
            <a:off x="838200" y="6003720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g358541ac603_0_45"/>
          <p:cNvSpPr txBox="1"/>
          <p:nvPr>
            <p:ph idx="11" type="ftr"/>
          </p:nvPr>
        </p:nvSpPr>
        <p:spPr>
          <a:xfrm>
            <a:off x="838200" y="6356350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203" name="Google Shape;203;g358541ac603_0_45"/>
          <p:cNvSpPr txBox="1"/>
          <p:nvPr/>
        </p:nvSpPr>
        <p:spPr>
          <a:xfrm>
            <a:off x="8558700" y="1843225"/>
            <a:ext cx="26610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Adversarial Robustness in Convolutional Networks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Dialogue Systems and Machine Translation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Sparse Modeling and Gaussian Classification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Reinforcement Learning and Bandit Algorithms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Optimization Algorithms in Machine Learning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Causal Inference and Treatment Effects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Bayesian Inference and Probabilistic Models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Graph Neural Networks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g358541ac603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8016190" cy="400809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Relationships between Topics</a:t>
            </a:r>
            <a:endParaRPr b="1">
              <a:solidFill>
                <a:srgbClr val="005587"/>
              </a:solidFill>
            </a:endParaRPr>
          </a:p>
        </p:txBody>
      </p:sp>
      <p:cxnSp>
        <p:nvCxnSpPr>
          <p:cNvPr id="210" name="Google Shape;210;p10"/>
          <p:cNvCxnSpPr/>
          <p:nvPr/>
        </p:nvCxnSpPr>
        <p:spPr>
          <a:xfrm flipH="1" rot="10800000">
            <a:off x="838200" y="1528551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10"/>
          <p:cNvCxnSpPr/>
          <p:nvPr/>
        </p:nvCxnSpPr>
        <p:spPr>
          <a:xfrm flipH="1" rot="10800000">
            <a:off x="838200" y="6003572"/>
            <a:ext cx="10515600" cy="13648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10"/>
          <p:cNvSpPr txBox="1"/>
          <p:nvPr>
            <p:ph idx="11" type="ftr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pic>
        <p:nvPicPr>
          <p:cNvPr id="213" name="Google Shape;21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313" y="1528551"/>
            <a:ext cx="4461376" cy="446137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97c3abcf1_0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Relationships between Topics</a:t>
            </a:r>
            <a:endParaRPr b="1">
              <a:solidFill>
                <a:srgbClr val="005587"/>
              </a:solidFill>
            </a:endParaRPr>
          </a:p>
        </p:txBody>
      </p:sp>
      <p:cxnSp>
        <p:nvCxnSpPr>
          <p:cNvPr id="219" name="Google Shape;219;g3597c3abcf1_0_22"/>
          <p:cNvCxnSpPr/>
          <p:nvPr/>
        </p:nvCxnSpPr>
        <p:spPr>
          <a:xfrm flipH="1" rot="10800000">
            <a:off x="838200" y="1528699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0" name="Google Shape;220;g3597c3abcf1_0_22"/>
          <p:cNvCxnSpPr/>
          <p:nvPr/>
        </p:nvCxnSpPr>
        <p:spPr>
          <a:xfrm flipH="1" rot="10800000">
            <a:off x="838200" y="6003720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g3597c3abcf1_0_22"/>
          <p:cNvSpPr txBox="1"/>
          <p:nvPr>
            <p:ph idx="11" type="ftr"/>
          </p:nvPr>
        </p:nvSpPr>
        <p:spPr>
          <a:xfrm>
            <a:off x="838200" y="6356350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pic>
        <p:nvPicPr>
          <p:cNvPr id="222" name="Google Shape;222;g3597c3abcf1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500" y="1542200"/>
            <a:ext cx="4474996" cy="447502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a4696c01c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</a:rPr>
              <a:t>The Big Picture</a:t>
            </a:r>
            <a:endParaRPr b="1">
              <a:solidFill>
                <a:srgbClr val="005587"/>
              </a:solidFill>
            </a:endParaRPr>
          </a:p>
        </p:txBody>
      </p:sp>
      <p:sp>
        <p:nvSpPr>
          <p:cNvPr id="228" name="Google Shape;228;g35a4696c01c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Search for explainability with AI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Using LLMs </a:t>
            </a:r>
            <a:r>
              <a:rPr lang="en-US"/>
              <a:t>themselves to understand their development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Possibility of reawakening research in “dead ends”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Possible links to the hottest subfields of today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High level overview of today’s technology to create tomorrow’s</a:t>
            </a:r>
            <a:endParaRPr/>
          </a:p>
        </p:txBody>
      </p:sp>
      <p:cxnSp>
        <p:nvCxnSpPr>
          <p:cNvPr id="229" name="Google Shape;229;g35a4696c01c_0_10"/>
          <p:cNvCxnSpPr/>
          <p:nvPr/>
        </p:nvCxnSpPr>
        <p:spPr>
          <a:xfrm flipH="1" rot="10800000">
            <a:off x="838200" y="1528699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0" name="Google Shape;230;g35a4696c01c_0_10"/>
          <p:cNvCxnSpPr/>
          <p:nvPr/>
        </p:nvCxnSpPr>
        <p:spPr>
          <a:xfrm flipH="1" rot="10800000">
            <a:off x="838200" y="6003720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g35a4696c01c_0_10"/>
          <p:cNvSpPr txBox="1"/>
          <p:nvPr>
            <p:ph idx="11" type="ftr"/>
          </p:nvPr>
        </p:nvSpPr>
        <p:spPr>
          <a:xfrm>
            <a:off x="838200" y="6356350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97c3abcf1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005587"/>
                </a:solidFill>
                <a:latin typeface="Calibri"/>
                <a:ea typeface="Calibri"/>
                <a:cs typeface="Calibri"/>
                <a:sym typeface="Calibri"/>
              </a:rPr>
              <a:t>Acknowledgements  </a:t>
            </a:r>
            <a:endParaRPr b="1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597c3abcf1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HUGE thank you to Professor Vivian Lew for her encouragement and advice throughout this entire process, I would not have this project here today without her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Would also like to thank all of the professors in the Statistics Department for </a:t>
            </a:r>
            <a:r>
              <a:rPr lang="en-US"/>
              <a:t>exposing us to the models and algorithms used in research today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g3597c3abcf1_0_4"/>
          <p:cNvCxnSpPr/>
          <p:nvPr/>
        </p:nvCxnSpPr>
        <p:spPr>
          <a:xfrm flipH="1" rot="10800000">
            <a:off x="838200" y="1528699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" name="Google Shape;239;g3597c3abcf1_0_4"/>
          <p:cNvCxnSpPr/>
          <p:nvPr/>
        </p:nvCxnSpPr>
        <p:spPr>
          <a:xfrm flipH="1" rot="10800000">
            <a:off x="838200" y="6003720"/>
            <a:ext cx="10515600" cy="13500"/>
          </a:xfrm>
          <a:prstGeom prst="straightConnector1">
            <a:avLst/>
          </a:prstGeom>
          <a:noFill/>
          <a:ln cap="flat" cmpd="sng" w="38100">
            <a:solidFill>
              <a:srgbClr val="FFCD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" name="Google Shape;240;g3597c3abcf1_0_4"/>
          <p:cNvSpPr txBox="1"/>
          <p:nvPr>
            <p:ph idx="11" type="ftr"/>
          </p:nvPr>
        </p:nvSpPr>
        <p:spPr>
          <a:xfrm>
            <a:off x="838200" y="6356350"/>
            <a:ext cx="1051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		Privacy Notice: Do not record or reproduce. 				          </a:t>
            </a:r>
            <a:fld id="{00000000-1234-1234-1234-123412341234}" type="slidenum">
              <a:rPr lang="en-US" sz="1600"/>
              <a:t>‹#›</a:t>
            </a:fld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2020-04-06T16:04:21Z</dcterms:created>
  <dc:creator>McAllister, Kate</dc:creator>
</cp:coreProperties>
</file>