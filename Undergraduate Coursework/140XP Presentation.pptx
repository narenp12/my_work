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  <p:sldMasterId id="214748369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Inter Tight Medium"/>
      <p:regular r:id="rId25"/>
      <p:bold r:id="rId26"/>
      <p:italic r:id="rId27"/>
      <p:boldItalic r:id="rId28"/>
    </p:embeddedFont>
    <p:embeddedFont>
      <p:font typeface="Inter Tight"/>
      <p:regular r:id="rId29"/>
      <p:bold r:id="rId30"/>
      <p:italic r:id="rId31"/>
      <p:boldItalic r:id="rId32"/>
    </p:embeddedFont>
    <p:embeddedFont>
      <p:font typeface="Inter Tight SemiBold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TightMedium-bold.fntdata"/><Relationship Id="rId25" Type="http://schemas.openxmlformats.org/officeDocument/2006/relationships/font" Target="fonts/InterTightMedium-regular.fntdata"/><Relationship Id="rId28" Type="http://schemas.openxmlformats.org/officeDocument/2006/relationships/font" Target="fonts/InterTightMedium-boldItalic.fntdata"/><Relationship Id="rId27" Type="http://schemas.openxmlformats.org/officeDocument/2006/relationships/font" Target="fonts/InterTightMedium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T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Tight-italic.fntdata"/><Relationship Id="rId30" Type="http://schemas.openxmlformats.org/officeDocument/2006/relationships/font" Target="fonts/InterTight-bold.fntdata"/><Relationship Id="rId11" Type="http://schemas.openxmlformats.org/officeDocument/2006/relationships/slide" Target="slides/slide5.xml"/><Relationship Id="rId33" Type="http://schemas.openxmlformats.org/officeDocument/2006/relationships/font" Target="fonts/InterTightSemiBold-regular.fntdata"/><Relationship Id="rId10" Type="http://schemas.openxmlformats.org/officeDocument/2006/relationships/slide" Target="slides/slide4.xml"/><Relationship Id="rId32" Type="http://schemas.openxmlformats.org/officeDocument/2006/relationships/font" Target="fonts/InterTight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TightSemiBold-italic.fntdata"/><Relationship Id="rId12" Type="http://schemas.openxmlformats.org/officeDocument/2006/relationships/slide" Target="slides/slide6.xml"/><Relationship Id="rId34" Type="http://schemas.openxmlformats.org/officeDocument/2006/relationships/font" Target="fonts/InterTightSemiBold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InterTightSemiBold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42ac3a18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42ac3a18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42ac3a183e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42ac3a183e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42ac3a183e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42ac3a183e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42ac3a183e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42ac3a183e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42ac3a183e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42ac3a183e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42ac3a183e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42ac3a183e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42ac3a183e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42ac3a183e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42ac3a183e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42ac3a183e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42ac3a183e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42ac3a183e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2ac3a183e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2ac3a183e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42ac3a183e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42ac3a183e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42ac3a183e_0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42ac3a183e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42ac3a183e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42ac3a183e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42ac3a183e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42ac3a183e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42ac3a183e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42ac3a183e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42ac3a183e_0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42ac3a183e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42ac3a183e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42ac3a183e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42ac3a183e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42ac3a183e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 rot="299808">
            <a:off x="124383" y="-559521"/>
            <a:ext cx="8900029" cy="6258229"/>
            <a:chOff x="124223" y="-559280"/>
            <a:chExt cx="8900025" cy="6258226"/>
          </a:xfrm>
        </p:grpSpPr>
        <p:grpSp>
          <p:nvGrpSpPr>
            <p:cNvPr id="56" name="Google Shape;56;p14"/>
            <p:cNvGrpSpPr/>
            <p:nvPr/>
          </p:nvGrpSpPr>
          <p:grpSpPr>
            <a:xfrm>
              <a:off x="124223" y="-78561"/>
              <a:ext cx="8900025" cy="5296800"/>
              <a:chOff x="124223" y="-78561"/>
              <a:chExt cx="8900025" cy="5296800"/>
            </a:xfrm>
          </p:grpSpPr>
          <p:sp>
            <p:nvSpPr>
              <p:cNvPr id="57" name="Google Shape;57;p14"/>
              <p:cNvSpPr/>
              <p:nvPr/>
            </p:nvSpPr>
            <p:spPr>
              <a:xfrm rot="-1623">
                <a:off x="7117071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58" name="Google Shape;58;p14"/>
              <p:cNvSpPr/>
              <p:nvPr/>
            </p:nvSpPr>
            <p:spPr>
              <a:xfrm flipH="1" rot="-1487">
                <a:off x="124823" y="-77211"/>
                <a:ext cx="6242101" cy="5294100"/>
              </a:xfrm>
              <a:prstGeom prst="snip1Rect">
                <a:avLst>
                  <a:gd fmla="val 4248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59" name="Google Shape;59;p14"/>
              <p:cNvSpPr/>
              <p:nvPr/>
            </p:nvSpPr>
            <p:spPr>
              <a:xfrm flipH="1" rot="10798513">
                <a:off x="2781248" y="-76291"/>
                <a:ext cx="6242401" cy="5289900"/>
              </a:xfrm>
              <a:prstGeom prst="snip1Rect">
                <a:avLst>
                  <a:gd fmla="val 4249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 rot="-1623">
                <a:off x="125118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61" name="Google Shape;61;p14"/>
            <p:cNvSpPr/>
            <p:nvPr/>
          </p:nvSpPr>
          <p:spPr>
            <a:xfrm rot="-4516116">
              <a:off x="314265" y="-331820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 rot="6283884">
              <a:off x="6963097" y="3633506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1826325" y="1559575"/>
            <a:ext cx="5494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1826325" y="3252475"/>
            <a:ext cx="5494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3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" name="Google Shape;106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7" name="Google Shape;107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8" name="Google Shape;108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9" name="Google Shape;109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" name="Google Shape;110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14" name="Google Shape;114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9" name="Google Shape;119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1" name="Google Shape;121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2" name="Google Shape;122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6" name="Google Shape;126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9" name="Google Shape;129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" name="Google Shape;130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1" name="Google Shape;131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9" name="Google Shape;139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0" name="Google Shape;140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1" name="Google Shape;141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" name="Google Shape;142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9" name="Google Shape;149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2" name="Google Shape;15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5" name="Google Shape;155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8" name="Google Shape;158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1" name="Google Shape;161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6" name="Google Shape;166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7" name="Google Shape;167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" name="Google Shape;180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35"/>
          <p:cNvGrpSpPr/>
          <p:nvPr/>
        </p:nvGrpSpPr>
        <p:grpSpPr>
          <a:xfrm>
            <a:off x="75" y="256675"/>
            <a:ext cx="3798141" cy="1190474"/>
            <a:chOff x="75" y="256675"/>
            <a:chExt cx="3798141" cy="1190474"/>
          </a:xfrm>
        </p:grpSpPr>
        <p:sp>
          <p:nvSpPr>
            <p:cNvPr id="185" name="Google Shape;185;p35"/>
            <p:cNvSpPr/>
            <p:nvPr/>
          </p:nvSpPr>
          <p:spPr>
            <a:xfrm flipH="1" rot="10800000">
              <a:off x="75" y="256675"/>
              <a:ext cx="3798000" cy="11904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86" name="Google Shape;186;p35"/>
            <p:cNvSpPr/>
            <p:nvPr/>
          </p:nvSpPr>
          <p:spPr>
            <a:xfrm flipH="1" rot="-10795068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87" name="Google Shape;187;p35"/>
          <p:cNvSpPr txBox="1"/>
          <p:nvPr>
            <p:ph type="title"/>
          </p:nvPr>
        </p:nvSpPr>
        <p:spPr>
          <a:xfrm>
            <a:off x="333925" y="544250"/>
            <a:ext cx="3039900" cy="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35"/>
          <p:cNvSpPr txBox="1"/>
          <p:nvPr>
            <p:ph idx="1" type="subTitle"/>
          </p:nvPr>
        </p:nvSpPr>
        <p:spPr>
          <a:xfrm>
            <a:off x="1149126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89" name="Google Shape;189;p35"/>
          <p:cNvSpPr txBox="1"/>
          <p:nvPr>
            <p:ph idx="2" type="subTitle"/>
          </p:nvPr>
        </p:nvSpPr>
        <p:spPr>
          <a:xfrm>
            <a:off x="1149126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3" type="subTitle"/>
          </p:nvPr>
        </p:nvSpPr>
        <p:spPr>
          <a:xfrm>
            <a:off x="1149126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4" type="subTitle"/>
          </p:nvPr>
        </p:nvSpPr>
        <p:spPr>
          <a:xfrm>
            <a:off x="1149126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5" type="subTitle"/>
          </p:nvPr>
        </p:nvSpPr>
        <p:spPr>
          <a:xfrm>
            <a:off x="1149126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6" type="subTitle"/>
          </p:nvPr>
        </p:nvSpPr>
        <p:spPr>
          <a:xfrm>
            <a:off x="5327851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4" name="Google Shape;194;p35"/>
          <p:cNvSpPr txBox="1"/>
          <p:nvPr>
            <p:ph idx="7" type="subTitle"/>
          </p:nvPr>
        </p:nvSpPr>
        <p:spPr>
          <a:xfrm>
            <a:off x="5327851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5" name="Google Shape;195;p35"/>
          <p:cNvSpPr txBox="1"/>
          <p:nvPr>
            <p:ph idx="8" type="subTitle"/>
          </p:nvPr>
        </p:nvSpPr>
        <p:spPr>
          <a:xfrm>
            <a:off x="5327851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6" name="Google Shape;196;p35"/>
          <p:cNvSpPr txBox="1"/>
          <p:nvPr>
            <p:ph idx="9" type="subTitle"/>
          </p:nvPr>
        </p:nvSpPr>
        <p:spPr>
          <a:xfrm>
            <a:off x="5327851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97" name="Google Shape;197;p35"/>
          <p:cNvSpPr txBox="1"/>
          <p:nvPr>
            <p:ph idx="13" type="subTitle"/>
          </p:nvPr>
        </p:nvSpPr>
        <p:spPr>
          <a:xfrm>
            <a:off x="5327851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s" type="tx">
  <p:cSld name="TITLE_AND_BODY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0" name="Google Shape;200;p36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1" name="Google Shape;201;p36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36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03" name="Google Shape;203;p36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36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05" name="Google Shape;205;p36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ITLE_AND_BODY_1"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8" name="Google Shape;208;p37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9" name="Google Shape;209;p37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7"/>
          <p:cNvSpPr txBox="1"/>
          <p:nvPr>
            <p:ph idx="1" type="subTitle"/>
          </p:nvPr>
        </p:nvSpPr>
        <p:spPr>
          <a:xfrm>
            <a:off x="38108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12" name="Google Shape;212;p37"/>
          <p:cNvSpPr txBox="1"/>
          <p:nvPr>
            <p:ph idx="4" type="body"/>
          </p:nvPr>
        </p:nvSpPr>
        <p:spPr>
          <a:xfrm>
            <a:off x="38108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3" name="Google Shape;213;p37"/>
          <p:cNvSpPr txBox="1"/>
          <p:nvPr>
            <p:ph idx="5" type="subTitle"/>
          </p:nvPr>
        </p:nvSpPr>
        <p:spPr>
          <a:xfrm>
            <a:off x="456693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14" name="Google Shape;214;p37"/>
          <p:cNvSpPr txBox="1"/>
          <p:nvPr>
            <p:ph idx="6" type="body"/>
          </p:nvPr>
        </p:nvSpPr>
        <p:spPr>
          <a:xfrm>
            <a:off x="456693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5" name="Google Shape;215;p37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16" name="Google Shape;216;p37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woColTx">
  <p:cSld name="TITLE_AND_TWO_COLUMNS">
    <p:bg>
      <p:bgPr>
        <a:solidFill>
          <a:schemeClr val="lt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38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19" name="Google Shape;219;p38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20" name="Google Shape;220;p38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21" name="Google Shape;221;p38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22" name="Google Shape;222;p38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23" name="Google Shape;223;p3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8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38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27" name="Google Shape;227;p38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 type="titleOnly">
  <p:cSld name="TITLE_ONLY"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/>
          <p:nvPr>
            <p:ph idx="2" type="pic"/>
          </p:nvPr>
        </p:nvSpPr>
        <p:spPr>
          <a:xfrm rot="299866">
            <a:off x="764484" y="2679783"/>
            <a:ext cx="1938771" cy="1938771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0" name="Google Shape;230;p39"/>
          <p:cNvSpPr/>
          <p:nvPr>
            <p:ph idx="3" type="pic"/>
          </p:nvPr>
        </p:nvSpPr>
        <p:spPr>
          <a:xfrm rot="-299913">
            <a:off x="3602840" y="2620826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1" name="Google Shape;231;p39"/>
          <p:cNvSpPr/>
          <p:nvPr>
            <p:ph idx="4" type="pic"/>
          </p:nvPr>
        </p:nvSpPr>
        <p:spPr>
          <a:xfrm rot="299913">
            <a:off x="6440891" y="2679947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2" name="Google Shape;232;p3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9"/>
          <p:cNvSpPr txBox="1"/>
          <p:nvPr>
            <p:ph idx="1" type="subTitle"/>
          </p:nvPr>
        </p:nvSpPr>
        <p:spPr>
          <a:xfrm>
            <a:off x="381063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4" name="Google Shape;234;p39"/>
          <p:cNvSpPr txBox="1"/>
          <p:nvPr>
            <p:ph idx="5" type="body"/>
          </p:nvPr>
        </p:nvSpPr>
        <p:spPr>
          <a:xfrm>
            <a:off x="381063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5" name="Google Shape;235;p39"/>
          <p:cNvSpPr txBox="1"/>
          <p:nvPr>
            <p:ph idx="6" type="subTitle"/>
          </p:nvPr>
        </p:nvSpPr>
        <p:spPr>
          <a:xfrm>
            <a:off x="3219300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6" name="Google Shape;236;p39"/>
          <p:cNvSpPr txBox="1"/>
          <p:nvPr>
            <p:ph idx="7" type="body"/>
          </p:nvPr>
        </p:nvSpPr>
        <p:spPr>
          <a:xfrm>
            <a:off x="3219300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7" name="Google Shape;237;p39"/>
          <p:cNvSpPr txBox="1"/>
          <p:nvPr>
            <p:ph idx="8" type="subTitle"/>
          </p:nvPr>
        </p:nvSpPr>
        <p:spPr>
          <a:xfrm>
            <a:off x="6057538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38" name="Google Shape;238;p39"/>
          <p:cNvSpPr txBox="1"/>
          <p:nvPr>
            <p:ph idx="9" type="body"/>
          </p:nvPr>
        </p:nvSpPr>
        <p:spPr>
          <a:xfrm>
            <a:off x="6057538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39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1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41" name="Google Shape;241;p39"/>
          <p:cNvSpPr txBox="1"/>
          <p:nvPr>
            <p:ph idx="1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1">
  <p:cSld name="ONE_COLUMN_TEXT"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44" name="Google Shape;244;p4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40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" name="Google Shape;246;p40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47" name="Google Shape;247;p40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48" name="Google Shape;248;p40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left">
  <p:cSld name="ONE_COLUMN_TEXT_1"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41"/>
          <p:cNvGrpSpPr/>
          <p:nvPr/>
        </p:nvGrpSpPr>
        <p:grpSpPr>
          <a:xfrm>
            <a:off x="433788" y="1202208"/>
            <a:ext cx="2632899" cy="904617"/>
            <a:chOff x="433788" y="1202208"/>
            <a:chExt cx="2632899" cy="904617"/>
          </a:xfrm>
        </p:grpSpPr>
        <p:sp>
          <p:nvSpPr>
            <p:cNvPr id="251" name="Google Shape;251;p41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2" name="Google Shape;252;p41"/>
            <p:cNvSpPr/>
            <p:nvPr/>
          </p:nvSpPr>
          <p:spPr>
            <a:xfrm rot="-6523">
              <a:off x="2750486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3" name="Google Shape;253;p41"/>
          <p:cNvSpPr txBox="1"/>
          <p:nvPr>
            <p:ph idx="1" type="subTitle"/>
          </p:nvPr>
        </p:nvSpPr>
        <p:spPr>
          <a:xfrm>
            <a:off x="437000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54" name="Google Shape;254;p41"/>
          <p:cNvSpPr txBox="1"/>
          <p:nvPr>
            <p:ph idx="2" type="body"/>
          </p:nvPr>
        </p:nvSpPr>
        <p:spPr>
          <a:xfrm>
            <a:off x="437000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41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41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8" name="Google Shape;258;p41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59" name="Google Shape;259;p41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  <p15:guide id="2" orient="horz" pos="1353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middle">
  <p:cSld name="ONE_COLUMN_TEXT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42"/>
          <p:cNvGrpSpPr/>
          <p:nvPr/>
        </p:nvGrpSpPr>
        <p:grpSpPr>
          <a:xfrm>
            <a:off x="3253950" y="1202208"/>
            <a:ext cx="2632899" cy="904617"/>
            <a:chOff x="3253950" y="1202208"/>
            <a:chExt cx="2632899" cy="904617"/>
          </a:xfrm>
        </p:grpSpPr>
        <p:sp>
          <p:nvSpPr>
            <p:cNvPr id="262" name="Google Shape;262;p42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63" name="Google Shape;263;p42"/>
            <p:cNvSpPr/>
            <p:nvPr/>
          </p:nvSpPr>
          <p:spPr>
            <a:xfrm rot="-6523">
              <a:off x="5570649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64" name="Google Shape;264;p42"/>
          <p:cNvSpPr txBox="1"/>
          <p:nvPr>
            <p:ph idx="1" type="subTitle"/>
          </p:nvPr>
        </p:nvSpPr>
        <p:spPr>
          <a:xfrm>
            <a:off x="3257163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65" name="Google Shape;265;p42"/>
          <p:cNvSpPr txBox="1"/>
          <p:nvPr>
            <p:ph idx="2" type="body"/>
          </p:nvPr>
        </p:nvSpPr>
        <p:spPr>
          <a:xfrm>
            <a:off x="3257163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42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67" name="Google Shape;267;p42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42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" name="Google Shape;269;p42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70" name="Google Shape;270;p42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right, long text">
  <p:cSld name="ONE_COLUMN_TEXT_1_1"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/>
          <p:nvPr/>
        </p:nvSpPr>
        <p:spPr>
          <a:xfrm>
            <a:off x="3253825" y="1202325"/>
            <a:ext cx="5453100" cy="904500"/>
          </a:xfrm>
          <a:prstGeom prst="snip1Rect">
            <a:avLst>
              <a:gd fmla="val 350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73" name="Google Shape;273;p43"/>
          <p:cNvSpPr txBox="1"/>
          <p:nvPr>
            <p:ph idx="1" type="subTitle"/>
          </p:nvPr>
        </p:nvSpPr>
        <p:spPr>
          <a:xfrm>
            <a:off x="3253950" y="1202200"/>
            <a:ext cx="5136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74" name="Google Shape;274;p43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75" name="Google Shape;275;p43"/>
          <p:cNvSpPr txBox="1"/>
          <p:nvPr>
            <p:ph idx="3" type="body"/>
          </p:nvPr>
        </p:nvSpPr>
        <p:spPr>
          <a:xfrm>
            <a:off x="3253950" y="1460325"/>
            <a:ext cx="5453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4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43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" name="Google Shape;278;p43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79" name="Google Shape;279;p43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80" name="Google Shape;280;p43"/>
          <p:cNvSpPr/>
          <p:nvPr/>
        </p:nvSpPr>
        <p:spPr>
          <a:xfrm rot="-6523">
            <a:off x="8390811" y="1202508"/>
            <a:ext cx="316201" cy="31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44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83" name="Google Shape;283;p44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84" name="Google Shape;284;p44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85" name="Google Shape;285;p44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86" name="Google Shape;286;p44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7" name="Google Shape;287;p44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44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p44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44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91" name="Google Shape;291;p44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2">
  <p:cSld name="MAIN_POINT"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/>
          <p:nvPr>
            <p:ph idx="2" type="pic"/>
          </p:nvPr>
        </p:nvSpPr>
        <p:spPr>
          <a:xfrm rot="300107">
            <a:off x="4903200" y="846465"/>
            <a:ext cx="3950142" cy="3456249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4" name="Google Shape;294;p45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45"/>
          <p:cNvSpPr txBox="1"/>
          <p:nvPr>
            <p:ph type="title"/>
          </p:nvPr>
        </p:nvSpPr>
        <p:spPr>
          <a:xfrm>
            <a:off x="3339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6" name="Google Shape;296;p45"/>
          <p:cNvSpPr txBox="1"/>
          <p:nvPr>
            <p:ph idx="1" type="body"/>
          </p:nvPr>
        </p:nvSpPr>
        <p:spPr>
          <a:xfrm>
            <a:off x="3339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97" name="Google Shape;297;p45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98" name="Google Shape;298;p45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3">
  <p:cSld name="MAIN_POINT_1">
    <p:bg>
      <p:bgPr>
        <a:solidFill>
          <a:schemeClr val="l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/>
          <p:nvPr>
            <p:ph idx="2" type="pic"/>
          </p:nvPr>
        </p:nvSpPr>
        <p:spPr>
          <a:xfrm rot="-300067">
            <a:off x="550589" y="883785"/>
            <a:ext cx="3630622" cy="3658027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6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46"/>
          <p:cNvSpPr txBox="1"/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3" name="Google Shape;303;p46"/>
          <p:cNvSpPr txBox="1"/>
          <p:nvPr>
            <p:ph idx="1" type="body"/>
          </p:nvPr>
        </p:nvSpPr>
        <p:spPr>
          <a:xfrm>
            <a:off x="52046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304" name="Google Shape;304;p46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05" name="Google Shape;305;p46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descriptions">
  <p:cSld name="SECTION_TITLE_AND_DESCRIPTION"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/>
          <p:nvPr>
            <p:ph idx="2" type="pic"/>
          </p:nvPr>
        </p:nvSpPr>
        <p:spPr>
          <a:xfrm>
            <a:off x="3544863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08" name="Google Shape;308;p47"/>
          <p:cNvSpPr/>
          <p:nvPr>
            <p:ph idx="3" type="pic"/>
          </p:nvPr>
        </p:nvSpPr>
        <p:spPr>
          <a:xfrm>
            <a:off x="6658538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09" name="Google Shape;309;p47"/>
          <p:cNvSpPr/>
          <p:nvPr>
            <p:ph idx="4" type="pic"/>
          </p:nvPr>
        </p:nvSpPr>
        <p:spPr>
          <a:xfrm>
            <a:off x="431200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310" name="Google Shape;310;p4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47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2" name="Google Shape;312;p47"/>
          <p:cNvSpPr txBox="1"/>
          <p:nvPr>
            <p:ph idx="1" type="subTitle"/>
          </p:nvPr>
        </p:nvSpPr>
        <p:spPr>
          <a:xfrm>
            <a:off x="381100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3" name="Google Shape;313;p47"/>
          <p:cNvSpPr txBox="1"/>
          <p:nvPr>
            <p:ph idx="5" type="subTitle"/>
          </p:nvPr>
        </p:nvSpPr>
        <p:spPr>
          <a:xfrm>
            <a:off x="3494775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4" name="Google Shape;314;p47"/>
          <p:cNvSpPr txBox="1"/>
          <p:nvPr>
            <p:ph idx="6" type="subTitle"/>
          </p:nvPr>
        </p:nvSpPr>
        <p:spPr>
          <a:xfrm>
            <a:off x="6608438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315" name="Google Shape;315;p47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16" name="Google Shape;316;p47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wo column bullet points">
  <p:cSld name="CAPTION_ONLY">
    <p:bg>
      <p:bgPr>
        <a:solidFill>
          <a:schemeClr val="l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48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319" name="Google Shape;319;p48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20" name="Google Shape;320;p48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21" name="Google Shape;321;p48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22" name="Google Shape;322;p48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23" name="Google Shape;323;p4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48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48"/>
          <p:cNvSpPr txBox="1"/>
          <p:nvPr>
            <p:ph idx="1" type="body"/>
          </p:nvPr>
        </p:nvSpPr>
        <p:spPr>
          <a:xfrm>
            <a:off x="333925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48"/>
          <p:cNvSpPr txBox="1"/>
          <p:nvPr>
            <p:ph idx="2" type="body"/>
          </p:nvPr>
        </p:nvSpPr>
        <p:spPr>
          <a:xfrm>
            <a:off x="4595076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48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28" name="Google Shape;328;p48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eck for understanding">
  <p:cSld name="CAPTION_ONLY_1">
    <p:bg>
      <p:bgPr>
        <a:solidFill>
          <a:schemeClr val="lt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49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sp>
          <p:nvSpPr>
            <p:cNvPr id="331" name="Google Shape;331;p49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fmla="val 4086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32" name="Google Shape;332;p49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33" name="Google Shape;333;p49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34" name="Google Shape;334;p49"/>
          <p:cNvSpPr txBox="1"/>
          <p:nvPr>
            <p:ph idx="1" type="body"/>
          </p:nvPr>
        </p:nvSpPr>
        <p:spPr>
          <a:xfrm>
            <a:off x="333925" y="3630575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5" name="Google Shape;335;p4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49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49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38" name="Google Shape;338;p49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39" name="Google Shape;339;p49"/>
          <p:cNvSpPr txBox="1"/>
          <p:nvPr>
            <p:ph idx="4" type="body"/>
          </p:nvPr>
        </p:nvSpPr>
        <p:spPr>
          <a:xfrm>
            <a:off x="333925" y="31841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49"/>
          <p:cNvSpPr txBox="1"/>
          <p:nvPr>
            <p:ph idx="5" type="body"/>
          </p:nvPr>
        </p:nvSpPr>
        <p:spPr>
          <a:xfrm>
            <a:off x="333925" y="27377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49"/>
          <p:cNvSpPr txBox="1"/>
          <p:nvPr>
            <p:ph idx="6" type="body"/>
          </p:nvPr>
        </p:nvSpPr>
        <p:spPr>
          <a:xfrm>
            <a:off x="333925" y="2291377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ype">
  <p:cSld name="BIG_NUMBER">
    <p:bg>
      <p:bgPr>
        <a:solidFill>
          <a:schemeClr val="lt2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50"/>
          <p:cNvSpPr txBox="1"/>
          <p:nvPr/>
        </p:nvSpPr>
        <p:spPr>
          <a:xfrm>
            <a:off x="2479675" y="2285400"/>
            <a:ext cx="418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2800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45" name="Google Shape;345;p50"/>
          <p:cNvGrpSpPr/>
          <p:nvPr/>
        </p:nvGrpSpPr>
        <p:grpSpPr>
          <a:xfrm rot="300150">
            <a:off x="1277165" y="536719"/>
            <a:ext cx="6594752" cy="4068617"/>
            <a:chOff x="1277284" y="536521"/>
            <a:chExt cx="6594691" cy="4068580"/>
          </a:xfrm>
        </p:grpSpPr>
        <p:grpSp>
          <p:nvGrpSpPr>
            <p:cNvPr id="346" name="Google Shape;346;p50"/>
            <p:cNvGrpSpPr/>
            <p:nvPr/>
          </p:nvGrpSpPr>
          <p:grpSpPr>
            <a:xfrm>
              <a:off x="1277284" y="891662"/>
              <a:ext cx="6594077" cy="3357715"/>
              <a:chOff x="1277284" y="891662"/>
              <a:chExt cx="6594077" cy="3357715"/>
            </a:xfrm>
          </p:grpSpPr>
          <p:sp>
            <p:nvSpPr>
              <p:cNvPr id="347" name="Google Shape;347;p50"/>
              <p:cNvSpPr/>
              <p:nvPr/>
            </p:nvSpPr>
            <p:spPr>
              <a:xfrm rot="-2190">
                <a:off x="6458566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48" name="Google Shape;348;p50"/>
              <p:cNvSpPr/>
              <p:nvPr/>
            </p:nvSpPr>
            <p:spPr>
              <a:xfrm flipH="1" rot="-2453">
                <a:off x="1277283" y="893727"/>
                <a:ext cx="4625401" cy="3354000"/>
              </a:xfrm>
              <a:prstGeom prst="snip1Rect">
                <a:avLst>
                  <a:gd fmla="val 4969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49" name="Google Shape;349;p50"/>
              <p:cNvSpPr/>
              <p:nvPr/>
            </p:nvSpPr>
            <p:spPr>
              <a:xfrm flipH="1" rot="10797547">
                <a:off x="3245660" y="893312"/>
                <a:ext cx="4625701" cy="3354000"/>
              </a:xfrm>
              <a:prstGeom prst="snip1Rect">
                <a:avLst>
                  <a:gd fmla="val 4966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50" name="Google Shape;350;p50"/>
              <p:cNvSpPr/>
              <p:nvPr/>
            </p:nvSpPr>
            <p:spPr>
              <a:xfrm rot="-2190">
                <a:off x="1277395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51" name="Google Shape;351;p50"/>
            <p:cNvSpPr/>
            <p:nvPr/>
          </p:nvSpPr>
          <p:spPr>
            <a:xfrm rot="-4517241">
              <a:off x="1416960" y="705331"/>
              <a:ext cx="1386770" cy="13615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52" name="Google Shape;352;p50"/>
            <p:cNvSpPr/>
            <p:nvPr/>
          </p:nvSpPr>
          <p:spPr>
            <a:xfrm rot="6281922">
              <a:off x="6346470" y="3074659"/>
              <a:ext cx="1384510" cy="136318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53" name="Google Shape;353;p50"/>
          <p:cNvSpPr txBox="1"/>
          <p:nvPr>
            <p:ph type="title"/>
          </p:nvPr>
        </p:nvSpPr>
        <p:spPr>
          <a:xfrm>
            <a:off x="2479675" y="2285400"/>
            <a:ext cx="4184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4" name="Google Shape;354;p50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55" name="Google Shape;355;p50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lt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1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51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59" name="Google Shape;359;p51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theme" Target="../theme/theme3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47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475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2"/>
          <p:cNvSpPr txBox="1"/>
          <p:nvPr>
            <p:ph type="ctrTitle"/>
          </p:nvPr>
        </p:nvSpPr>
        <p:spPr>
          <a:xfrm>
            <a:off x="1824600" y="1670750"/>
            <a:ext cx="54948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2200"/>
              <a:t>Research on Research on Research: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Analyzing historical trends in statistical and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2200"/>
              <a:t>computational research from the 1990s to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modern day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365" name="Google Shape;365;p52"/>
          <p:cNvSpPr txBox="1"/>
          <p:nvPr>
            <p:ph idx="1" type="subTitle"/>
          </p:nvPr>
        </p:nvSpPr>
        <p:spPr>
          <a:xfrm>
            <a:off x="1824600" y="3404200"/>
            <a:ext cx="54948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Naren Prakash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53"/>
          <p:cNvSpPr txBox="1"/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72" name="Google Shape;372;p53"/>
          <p:cNvSpPr txBox="1"/>
          <p:nvPr>
            <p:ph idx="1" type="body"/>
          </p:nvPr>
        </p:nvSpPr>
        <p:spPr>
          <a:xfrm>
            <a:off x="5204625" y="2291390"/>
            <a:ext cx="3662100" cy="12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has the current research landscape for statistical and computational fields changed in the past 30 years?</a:t>
            </a:r>
            <a:endParaRPr/>
          </a:p>
        </p:txBody>
      </p:sp>
      <p:sp>
        <p:nvSpPr>
          <p:cNvPr id="373" name="Google Shape;373;p53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Research on Research on Research</a:t>
            </a:r>
            <a:endParaRPr/>
          </a:p>
        </p:txBody>
      </p:sp>
      <p:sp>
        <p:nvSpPr>
          <p:cNvPr id="374" name="Google Shape;374;p53"/>
          <p:cNvSpPr/>
          <p:nvPr/>
        </p:nvSpPr>
        <p:spPr>
          <a:xfrm flipH="1" rot="5098785">
            <a:off x="3453376" y="771412"/>
            <a:ext cx="589662" cy="590559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 </a:t>
            </a:r>
            <a:endParaRPr>
              <a:solidFill>
                <a:schemeClr val="lt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pic>
        <p:nvPicPr>
          <p:cNvPr id="375" name="Google Shape;37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575" y="1515816"/>
            <a:ext cx="4899825" cy="301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4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1" name="Google Shape;381;p54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</a:t>
            </a:r>
            <a:endParaRPr/>
          </a:p>
        </p:txBody>
      </p:sp>
      <p:sp>
        <p:nvSpPr>
          <p:cNvPr id="382" name="Google Shape;382;p54"/>
          <p:cNvSpPr txBox="1"/>
          <p:nvPr>
            <p:ph idx="1" type="body"/>
          </p:nvPr>
        </p:nvSpPr>
        <p:spPr>
          <a:xfrm>
            <a:off x="333925" y="3214925"/>
            <a:ext cx="67908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/>
              <a:t>What statistical and computational fields are projected to grow the most in the coming years?</a:t>
            </a:r>
            <a:endParaRPr sz="1300"/>
          </a:p>
        </p:txBody>
      </p:sp>
      <p:sp>
        <p:nvSpPr>
          <p:cNvPr id="383" name="Google Shape;383;p54"/>
          <p:cNvSpPr txBox="1"/>
          <p:nvPr>
            <p:ph idx="4294967295" type="body"/>
          </p:nvPr>
        </p:nvSpPr>
        <p:spPr>
          <a:xfrm>
            <a:off x="8318025" y="3630575"/>
            <a:ext cx="5487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no</a:t>
            </a:r>
            <a:endParaRPr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84" name="Google Shape;384;p54"/>
          <p:cNvSpPr txBox="1"/>
          <p:nvPr>
            <p:ph idx="4294967295" type="body"/>
          </p:nvPr>
        </p:nvSpPr>
        <p:spPr>
          <a:xfrm>
            <a:off x="8318025" y="3184176"/>
            <a:ext cx="5487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no</a:t>
            </a:r>
            <a:endParaRPr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85" name="Google Shape;385;p54"/>
          <p:cNvSpPr txBox="1"/>
          <p:nvPr>
            <p:ph idx="4294967295" type="body"/>
          </p:nvPr>
        </p:nvSpPr>
        <p:spPr>
          <a:xfrm>
            <a:off x="7447000" y="3184176"/>
            <a:ext cx="5487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yes</a:t>
            </a:r>
            <a:endParaRPr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86" name="Google Shape;386;p54"/>
          <p:cNvSpPr txBox="1"/>
          <p:nvPr>
            <p:ph idx="5" type="body"/>
          </p:nvPr>
        </p:nvSpPr>
        <p:spPr>
          <a:xfrm>
            <a:off x="333925" y="2737776"/>
            <a:ext cx="67908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/>
              <a:t>How have the most published statistical and computational fields changed over time?</a:t>
            </a:r>
            <a:endParaRPr sz="1300"/>
          </a:p>
        </p:txBody>
      </p:sp>
      <p:sp>
        <p:nvSpPr>
          <p:cNvPr id="387" name="Google Shape;387;p54"/>
          <p:cNvSpPr txBox="1"/>
          <p:nvPr>
            <p:ph idx="4294967295" type="body"/>
          </p:nvPr>
        </p:nvSpPr>
        <p:spPr>
          <a:xfrm>
            <a:off x="8318025" y="2737776"/>
            <a:ext cx="5487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no</a:t>
            </a:r>
            <a:endParaRPr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88" name="Google Shape;388;p54"/>
          <p:cNvSpPr txBox="1"/>
          <p:nvPr>
            <p:ph idx="4294967295" type="body"/>
          </p:nvPr>
        </p:nvSpPr>
        <p:spPr>
          <a:xfrm>
            <a:off x="7447000" y="2737776"/>
            <a:ext cx="5487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yes</a:t>
            </a:r>
            <a:endParaRPr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89" name="Google Shape;389;p54"/>
          <p:cNvSpPr txBox="1"/>
          <p:nvPr>
            <p:ph idx="6" type="body"/>
          </p:nvPr>
        </p:nvSpPr>
        <p:spPr>
          <a:xfrm>
            <a:off x="333925" y="2291377"/>
            <a:ext cx="67908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/>
              <a:t>What statistical and computational fields have seen the largest increase in publications?</a:t>
            </a:r>
            <a:endParaRPr sz="1300"/>
          </a:p>
        </p:txBody>
      </p:sp>
      <p:sp>
        <p:nvSpPr>
          <p:cNvPr id="390" name="Google Shape;390;p54"/>
          <p:cNvSpPr txBox="1"/>
          <p:nvPr>
            <p:ph idx="4294967295" type="body"/>
          </p:nvPr>
        </p:nvSpPr>
        <p:spPr>
          <a:xfrm>
            <a:off x="8318025" y="2291377"/>
            <a:ext cx="5487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no</a:t>
            </a:r>
            <a:endParaRPr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391" name="Google Shape;391;p54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Research on Research on Research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5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Research on Research on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97" name="Google Shape;397;p55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8" name="Google Shape;398;p55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our data look like?</a:t>
            </a:r>
            <a:endParaRPr/>
          </a:p>
        </p:txBody>
      </p:sp>
      <p:sp>
        <p:nvSpPr>
          <p:cNvPr id="399" name="Google Shape;399;p55"/>
          <p:cNvSpPr txBox="1"/>
          <p:nvPr>
            <p:ph idx="1" type="body"/>
          </p:nvPr>
        </p:nvSpPr>
        <p:spPr>
          <a:xfrm>
            <a:off x="333925" y="1163150"/>
            <a:ext cx="8475600" cy="27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1</a:t>
            </a:r>
            <a:r>
              <a:rPr lang="en"/>
              <a:t>36,238 observations and 10 columns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Column names: id, title, category, category code, published date, updated date, authors, first author, summary, and summary word count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Originally scraped from arXiv, dataset from Kaggle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partition the dataset into two further datasets:</a:t>
            </a:r>
            <a:endParaRPr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A statistical dataset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A computational dataset</a:t>
            </a:r>
            <a:endParaRPr/>
          </a:p>
        </p:txBody>
      </p:sp>
      <p:sp>
        <p:nvSpPr>
          <p:cNvPr id="400" name="Google Shape;400;p55"/>
          <p:cNvSpPr/>
          <p:nvPr/>
        </p:nvSpPr>
        <p:spPr>
          <a:xfrm flipH="1" rot="5400000">
            <a:off x="7926325" y="2124416"/>
            <a:ext cx="783000" cy="783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01" name="Google Shape;401;p55"/>
          <p:cNvSpPr/>
          <p:nvPr/>
        </p:nvSpPr>
        <p:spPr>
          <a:xfrm flipH="1" rot="5400000">
            <a:off x="7926325" y="2124416"/>
            <a:ext cx="783000" cy="783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6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56"/>
          <p:cNvSpPr txBox="1"/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Plot</a:t>
            </a:r>
            <a:endParaRPr/>
          </a:p>
        </p:txBody>
      </p:sp>
      <p:sp>
        <p:nvSpPr>
          <p:cNvPr id="408" name="Google Shape;408;p56"/>
          <p:cNvSpPr txBox="1"/>
          <p:nvPr>
            <p:ph idx="1" type="body"/>
          </p:nvPr>
        </p:nvSpPr>
        <p:spPr>
          <a:xfrm>
            <a:off x="5204625" y="2291390"/>
            <a:ext cx="3662100" cy="9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Plot of paper output for a category in the original dataset: </a:t>
            </a:r>
            <a:r>
              <a:rPr lang="en"/>
              <a:t>Artificial</a:t>
            </a:r>
            <a:r>
              <a:rPr lang="en"/>
              <a:t> Intelligence</a:t>
            </a:r>
            <a:endParaRPr/>
          </a:p>
        </p:txBody>
      </p:sp>
      <p:sp>
        <p:nvSpPr>
          <p:cNvPr id="409" name="Google Shape;409;p56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Research on Research on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6"/>
          <p:cNvSpPr/>
          <p:nvPr/>
        </p:nvSpPr>
        <p:spPr>
          <a:xfrm flipH="1" rot="5102414">
            <a:off x="3442281" y="762422"/>
            <a:ext cx="596835" cy="59803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 </a:t>
            </a:r>
            <a:endParaRPr>
              <a:solidFill>
                <a:schemeClr val="lt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pic>
        <p:nvPicPr>
          <p:cNvPr id="411" name="Google Shape;411;p56" title="ai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175" y="1624812"/>
            <a:ext cx="4899825" cy="308380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7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57"/>
          <p:cNvSpPr txBox="1"/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Statistical EDA Plot</a:t>
            </a:r>
            <a:endParaRPr/>
          </a:p>
        </p:txBody>
      </p:sp>
      <p:sp>
        <p:nvSpPr>
          <p:cNvPr id="418" name="Google Shape;418;p57"/>
          <p:cNvSpPr txBox="1"/>
          <p:nvPr>
            <p:ph idx="1" type="body"/>
          </p:nvPr>
        </p:nvSpPr>
        <p:spPr>
          <a:xfrm>
            <a:off x="5204625" y="2291390"/>
            <a:ext cx="36621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Plot of paper output for the statistical data</a:t>
            </a:r>
            <a:endParaRPr/>
          </a:p>
        </p:txBody>
      </p:sp>
      <p:sp>
        <p:nvSpPr>
          <p:cNvPr id="419" name="Google Shape;419;p57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Research on Research on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57"/>
          <p:cNvSpPr/>
          <p:nvPr/>
        </p:nvSpPr>
        <p:spPr>
          <a:xfrm flipH="1" rot="5102414">
            <a:off x="3442281" y="762422"/>
            <a:ext cx="596835" cy="59803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 </a:t>
            </a:r>
            <a:endParaRPr>
              <a:solidFill>
                <a:schemeClr val="lt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pic>
        <p:nvPicPr>
          <p:cNvPr id="421" name="Google Shape;421;p57" title="stat_eda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6937"/>
            <a:ext cx="4899825" cy="25818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8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7" name="Google Shape;427;p58"/>
          <p:cNvSpPr txBox="1"/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Computational EDA Plot</a:t>
            </a:r>
            <a:endParaRPr sz="2500"/>
          </a:p>
        </p:txBody>
      </p:sp>
      <p:sp>
        <p:nvSpPr>
          <p:cNvPr id="428" name="Google Shape;428;p58"/>
          <p:cNvSpPr txBox="1"/>
          <p:nvPr>
            <p:ph idx="1" type="body"/>
          </p:nvPr>
        </p:nvSpPr>
        <p:spPr>
          <a:xfrm>
            <a:off x="5204625" y="2291390"/>
            <a:ext cx="36621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Plot of paper output for the computational data</a:t>
            </a:r>
            <a:endParaRPr/>
          </a:p>
        </p:txBody>
      </p:sp>
      <p:sp>
        <p:nvSpPr>
          <p:cNvPr id="429" name="Google Shape;429;p58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Research on Research on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8"/>
          <p:cNvSpPr/>
          <p:nvPr/>
        </p:nvSpPr>
        <p:spPr>
          <a:xfrm flipH="1" rot="5102414">
            <a:off x="3442281" y="762422"/>
            <a:ext cx="596835" cy="59803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 </a:t>
            </a:r>
            <a:endParaRPr>
              <a:solidFill>
                <a:schemeClr val="lt2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pic>
        <p:nvPicPr>
          <p:cNvPr id="431" name="Google Shape;431;p58" title="comp_eda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6937"/>
            <a:ext cx="4899825" cy="25818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9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Research on Research on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59"/>
          <p:cNvSpPr txBox="1"/>
          <p:nvPr>
            <p:ph type="title"/>
          </p:nvPr>
        </p:nvSpPr>
        <p:spPr>
          <a:xfrm>
            <a:off x="2479675" y="2285400"/>
            <a:ext cx="41847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Statistical Data Analysis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0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</a:t>
            </a:r>
            <a:r>
              <a:rPr lang="en"/>
              <a:t>fields had the largest publication increase?</a:t>
            </a:r>
            <a:endParaRPr/>
          </a:p>
        </p:txBody>
      </p:sp>
      <p:sp>
        <p:nvSpPr>
          <p:cNvPr id="444" name="Google Shape;444;p60"/>
          <p:cNvSpPr txBox="1"/>
          <p:nvPr>
            <p:ph idx="1" type="body"/>
          </p:nvPr>
        </p:nvSpPr>
        <p:spPr>
          <a:xfrm>
            <a:off x="333925" y="1163150"/>
            <a:ext cx="84756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Most growth: Machine Learning, Methodology, Applications</a:t>
            </a:r>
            <a:endParaRPr/>
          </a:p>
        </p:txBody>
      </p:sp>
      <p:sp>
        <p:nvSpPr>
          <p:cNvPr id="445" name="Google Shape;445;p6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6" name="Google Shape;446;p60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Research on Research on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7" name="Google Shape;447;p60"/>
          <p:cNvSpPr/>
          <p:nvPr/>
        </p:nvSpPr>
        <p:spPr>
          <a:xfrm flipH="1" rot="5400000">
            <a:off x="7926325" y="2124416"/>
            <a:ext cx="783000" cy="783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48" name="Google Shape;448;p60" title="ratio_stats-imageonline.co-merged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325" y="1977375"/>
            <a:ext cx="6020829" cy="29675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have the top fields changed?</a:t>
            </a:r>
            <a:endParaRPr/>
          </a:p>
        </p:txBody>
      </p:sp>
      <p:sp>
        <p:nvSpPr>
          <p:cNvPr id="454" name="Google Shape;454;p61"/>
          <p:cNvSpPr txBox="1"/>
          <p:nvPr>
            <p:ph idx="1" type="body"/>
          </p:nvPr>
        </p:nvSpPr>
        <p:spPr>
          <a:xfrm>
            <a:off x="333925" y="1163150"/>
            <a:ext cx="84756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Top 3 fields remained Machine Learning, Methodology,and Application/Computation</a:t>
            </a:r>
            <a:endParaRPr/>
          </a:p>
        </p:txBody>
      </p:sp>
      <p:sp>
        <p:nvSpPr>
          <p:cNvPr id="455" name="Google Shape;455;p6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6" name="Google Shape;456;p61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Research on Research on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7" name="Google Shape;457;p61"/>
          <p:cNvSpPr/>
          <p:nvPr/>
        </p:nvSpPr>
        <p:spPr>
          <a:xfrm flipH="1" rot="5400000">
            <a:off x="7926325" y="2124416"/>
            <a:ext cx="783000" cy="783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58" name="Google Shape;458;p61" title="top4_sta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61950"/>
            <a:ext cx="7621523" cy="22489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2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</a:t>
            </a:r>
            <a:r>
              <a:rPr lang="en"/>
              <a:t>fields are growing the most recently?</a:t>
            </a:r>
            <a:endParaRPr/>
          </a:p>
        </p:txBody>
      </p:sp>
      <p:sp>
        <p:nvSpPr>
          <p:cNvPr id="464" name="Google Shape;464;p62"/>
          <p:cNvSpPr txBox="1"/>
          <p:nvPr>
            <p:ph idx="1" type="body"/>
          </p:nvPr>
        </p:nvSpPr>
        <p:spPr>
          <a:xfrm>
            <a:off x="333925" y="1163150"/>
            <a:ext cx="84756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Looking at recent average growth</a:t>
            </a:r>
            <a:endParaRPr/>
          </a:p>
        </p:txBody>
      </p:sp>
      <p:sp>
        <p:nvSpPr>
          <p:cNvPr id="465" name="Google Shape;465;p62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6" name="Google Shape;466;p62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Research on Research on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7" name="Google Shape;467;p62"/>
          <p:cNvSpPr/>
          <p:nvPr/>
        </p:nvSpPr>
        <p:spPr>
          <a:xfrm flipH="1" rot="5400000">
            <a:off x="7926325" y="2124416"/>
            <a:ext cx="783000" cy="783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68" name="Google Shape;468;p62" title="stats_rec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61950"/>
            <a:ext cx="7621523" cy="22489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3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fields are growing the most recently?</a:t>
            </a:r>
            <a:endParaRPr/>
          </a:p>
        </p:txBody>
      </p:sp>
      <p:sp>
        <p:nvSpPr>
          <p:cNvPr id="474" name="Google Shape;474;p63"/>
          <p:cNvSpPr txBox="1"/>
          <p:nvPr>
            <p:ph idx="1" type="body"/>
          </p:nvPr>
        </p:nvSpPr>
        <p:spPr>
          <a:xfrm>
            <a:off x="333925" y="1163150"/>
            <a:ext cx="84756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Using a time series model</a:t>
            </a:r>
            <a:endParaRPr/>
          </a:p>
        </p:txBody>
      </p:sp>
      <p:sp>
        <p:nvSpPr>
          <p:cNvPr id="475" name="Google Shape;475;p6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63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Research on Research on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7" name="Google Shape;477;p63"/>
          <p:cNvSpPr/>
          <p:nvPr/>
        </p:nvSpPr>
        <p:spPr>
          <a:xfrm flipH="1" rot="5400000">
            <a:off x="7926325" y="2124416"/>
            <a:ext cx="783000" cy="783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78" name="Google Shape;478;p63" title="stat_pre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450" y="1609550"/>
            <a:ext cx="6128210" cy="32291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4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Research on Research on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64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64"/>
          <p:cNvSpPr txBox="1"/>
          <p:nvPr>
            <p:ph type="title"/>
          </p:nvPr>
        </p:nvSpPr>
        <p:spPr>
          <a:xfrm>
            <a:off x="2479675" y="2285400"/>
            <a:ext cx="41847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Data Analysis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5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fields had the largest publication increase?</a:t>
            </a:r>
            <a:endParaRPr/>
          </a:p>
        </p:txBody>
      </p:sp>
      <p:sp>
        <p:nvSpPr>
          <p:cNvPr id="491" name="Google Shape;491;p65"/>
          <p:cNvSpPr txBox="1"/>
          <p:nvPr>
            <p:ph idx="1" type="body"/>
          </p:nvPr>
        </p:nvSpPr>
        <p:spPr>
          <a:xfrm>
            <a:off x="333925" y="1163150"/>
            <a:ext cx="84756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Most growth: Artificial Intelligence, Computer Vision, Neural and Evolutionary Computing</a:t>
            </a:r>
            <a:endParaRPr/>
          </a:p>
        </p:txBody>
      </p:sp>
      <p:sp>
        <p:nvSpPr>
          <p:cNvPr id="492" name="Google Shape;492;p65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3" name="Google Shape;493;p65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Research on Research on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</p:txBody>
      </p:sp>
      <p:pic>
        <p:nvPicPr>
          <p:cNvPr id="494" name="Google Shape;494;p65" title="avg_pct_com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975" y="2174575"/>
            <a:ext cx="4111700" cy="21665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5" name="Google Shape;495;p65" title="ratio_com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8475" y="2174575"/>
            <a:ext cx="4111662" cy="21665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6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have the top fields changed?</a:t>
            </a:r>
            <a:endParaRPr/>
          </a:p>
        </p:txBody>
      </p:sp>
      <p:sp>
        <p:nvSpPr>
          <p:cNvPr id="501" name="Google Shape;501;p66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Top 3 fields remained </a:t>
            </a:r>
            <a:r>
              <a:rPr lang="en"/>
              <a:t>Artificial</a:t>
            </a:r>
            <a:r>
              <a:rPr lang="en"/>
              <a:t> Intelligence, Computation and Language (NLP), Computer Vision and Pattern Recognition</a:t>
            </a:r>
            <a:endParaRPr/>
          </a:p>
        </p:txBody>
      </p:sp>
      <p:sp>
        <p:nvSpPr>
          <p:cNvPr id="502" name="Google Shape;502;p66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3" name="Google Shape;503;p66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Research on Research on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4" name="Google Shape;504;p66"/>
          <p:cNvSpPr/>
          <p:nvPr/>
        </p:nvSpPr>
        <p:spPr>
          <a:xfrm flipH="1" rot="5400000">
            <a:off x="7926325" y="2124416"/>
            <a:ext cx="783000" cy="783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05" name="Google Shape;505;p66" title="top4_com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592" y="1871150"/>
            <a:ext cx="5833332" cy="30737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7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fields are growing the most recently?</a:t>
            </a:r>
            <a:endParaRPr/>
          </a:p>
        </p:txBody>
      </p:sp>
      <p:sp>
        <p:nvSpPr>
          <p:cNvPr id="511" name="Google Shape;511;p67"/>
          <p:cNvSpPr txBox="1"/>
          <p:nvPr>
            <p:ph idx="1" type="body"/>
          </p:nvPr>
        </p:nvSpPr>
        <p:spPr>
          <a:xfrm>
            <a:off x="333925" y="1163150"/>
            <a:ext cx="8475600" cy="9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Looking at recent average growth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Similar to previous publication increase plot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Still Artificial Intelligence, Computer Vision, Neural and Evolutionary Computing</a:t>
            </a:r>
            <a:endParaRPr/>
          </a:p>
        </p:txBody>
      </p:sp>
      <p:sp>
        <p:nvSpPr>
          <p:cNvPr id="512" name="Google Shape;512;p6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3" name="Google Shape;513;p67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Research on Research on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4" name="Google Shape;514;p67"/>
          <p:cNvSpPr/>
          <p:nvPr/>
        </p:nvSpPr>
        <p:spPr>
          <a:xfrm flipH="1" rot="5400000">
            <a:off x="7926325" y="2124416"/>
            <a:ext cx="783000" cy="783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8"/>
          <p:cNvSpPr txBox="1"/>
          <p:nvPr>
            <p:ph type="title"/>
          </p:nvPr>
        </p:nvSpPr>
        <p:spPr>
          <a:xfrm>
            <a:off x="333925" y="587150"/>
            <a:ext cx="8475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fields are growing the most recently?</a:t>
            </a:r>
            <a:endParaRPr/>
          </a:p>
        </p:txBody>
      </p:sp>
      <p:sp>
        <p:nvSpPr>
          <p:cNvPr id="520" name="Google Shape;520;p68"/>
          <p:cNvSpPr txBox="1"/>
          <p:nvPr>
            <p:ph idx="1" type="body"/>
          </p:nvPr>
        </p:nvSpPr>
        <p:spPr>
          <a:xfrm>
            <a:off x="333925" y="1163150"/>
            <a:ext cx="84756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/>
              <a:t>Using a time series model</a:t>
            </a:r>
            <a:endParaRPr/>
          </a:p>
        </p:txBody>
      </p:sp>
      <p:sp>
        <p:nvSpPr>
          <p:cNvPr id="521" name="Google Shape;521;p6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2" name="Google Shape;522;p68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Research on Research on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3" name="Google Shape;523;p68"/>
          <p:cNvSpPr/>
          <p:nvPr/>
        </p:nvSpPr>
        <p:spPr>
          <a:xfrm flipH="1" rot="5400000">
            <a:off x="7926325" y="2124416"/>
            <a:ext cx="783000" cy="783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24" name="Google Shape;524;p68" title="comp_pre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950" y="1700375"/>
            <a:ext cx="6128210" cy="32291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9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530" name="Google Shape;530;p69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Research on Research on Research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1" name="Google Shape;531;p69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32" name="Google Shape;532;p6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3" name="Google Shape;533;p69"/>
          <p:cNvSpPr txBox="1"/>
          <p:nvPr>
            <p:ph idx="1" type="body"/>
          </p:nvPr>
        </p:nvSpPr>
        <p:spPr>
          <a:xfrm>
            <a:off x="333925" y="2291375"/>
            <a:ext cx="8209800" cy="16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Top subfields fairly consistent for both statistical and computational fields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Statistical time series model projects short term increase for ML papers, decrease for others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Computational time series model projects growth in Neural and Evolutionary Computing, along with established top subfields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